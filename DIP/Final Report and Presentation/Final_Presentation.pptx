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006D8F">
              <a:alpha val="15000"/>
            </a:srgbClr>
          </a:solidFill>
          <a:ln w="508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457200"/>
            <a:ext cx="2926080" cy="310896"/>
          </a:xfrm>
          <a:prstGeom prst="rect">
            <a:avLst/>
          </a:prstGeom>
          <a:solidFill>
            <a:srgbClr val="00B4D8">
              <a:alpha val="80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5720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IMAGE PROCESSING — FINAL PROJECT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Removal in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0040" y="15544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Images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20040" y="2331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noise while preserving edges in MRI or CT images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" y="2834640"/>
            <a:ext cx="32004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97180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Mardonali Fayzullayev</a:t>
            </a:r>
            <a:pPr indent="0" marL="0">
              <a:buNone/>
            </a:pPr>
            <a:r>
              <a:rPr lang="en-US" sz="130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ID: 230423  ·  2025</a:t>
            </a:r>
            <a:endParaRPr lang="en-US" sz="13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914400"/>
            <a:ext cx="2651760" cy="18288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49057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Mardonali Fayzullayev  ·  ID: 230423  ·  Digital Image Processing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503920" y="490575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Overview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0350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 today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4206240" cy="365760"/>
          </a:xfrm>
          <a:prstGeom prst="rect">
            <a:avLst/>
          </a:prstGeom>
          <a:solidFill>
            <a:srgbClr val="0A1628"/>
          </a:solidFill>
          <a:ln w="5080">
            <a:solidFill>
              <a:srgbClr val="006D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420624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78992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9808" y="11155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1280160"/>
            <a:ext cx="3611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noise in MRI/CT matters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1513332"/>
            <a:ext cx="4206240" cy="365760"/>
          </a:xfrm>
          <a:prstGeom prst="rect">
            <a:avLst/>
          </a:prstGeom>
          <a:solidFill>
            <a:srgbClr val="0A1628"/>
          </a:solidFill>
          <a:ln w="5080">
            <a:solidFill>
              <a:srgbClr val="006D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513332"/>
            <a:ext cx="420624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513332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9808" y="15499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1714500"/>
            <a:ext cx="3611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MRI — 200 images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1947672"/>
            <a:ext cx="4206240" cy="365760"/>
          </a:xfrm>
          <a:prstGeom prst="rect">
            <a:avLst/>
          </a:prstGeom>
          <a:solidFill>
            <a:srgbClr val="0A1628"/>
          </a:solidFill>
          <a:ln w="5080">
            <a:solidFill>
              <a:srgbClr val="006D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1947672"/>
            <a:ext cx="420624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947672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9808" y="19842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Denoising Methods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2148840"/>
            <a:ext cx="3611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to Deep Learning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2382012"/>
            <a:ext cx="4206240" cy="365760"/>
          </a:xfrm>
          <a:prstGeom prst="rect">
            <a:avLst/>
          </a:prstGeom>
          <a:solidFill>
            <a:srgbClr val="0A1628"/>
          </a:solidFill>
          <a:ln w="5080">
            <a:solidFill>
              <a:srgbClr val="006D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382012"/>
            <a:ext cx="420624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382012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9808" y="241858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Pipeline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9808" y="2583180"/>
            <a:ext cx="3611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workflow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2816352"/>
            <a:ext cx="4206240" cy="365760"/>
          </a:xfrm>
          <a:prstGeom prst="rect">
            <a:avLst/>
          </a:prstGeom>
          <a:solidFill>
            <a:srgbClr val="0A1628"/>
          </a:solidFill>
          <a:ln w="5080">
            <a:solidFill>
              <a:srgbClr val="006D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2816352"/>
            <a:ext cx="420624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2816352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9808" y="285292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DnCNN Training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9808" y="3017520"/>
            <a:ext cx="3611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results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4320" y="3250692"/>
            <a:ext cx="4206240" cy="365760"/>
          </a:xfrm>
          <a:prstGeom prst="rect">
            <a:avLst/>
          </a:prstGeom>
          <a:solidFill>
            <a:srgbClr val="0A1628"/>
          </a:solidFill>
          <a:ln w="5080">
            <a:solidFill>
              <a:srgbClr val="006D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3250692"/>
            <a:ext cx="420624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3250692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49808" y="32872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Noise Results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9808" y="3451860"/>
            <a:ext cx="3611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σ=10, 20, 30 comparison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3685032"/>
            <a:ext cx="4206240" cy="365760"/>
          </a:xfrm>
          <a:prstGeom prst="rect">
            <a:avLst/>
          </a:prstGeom>
          <a:solidFill>
            <a:srgbClr val="0A1628"/>
          </a:solidFill>
          <a:ln w="5080">
            <a:solidFill>
              <a:srgbClr val="006D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3685032"/>
            <a:ext cx="420624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3685032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49808" y="37216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&amp; Pepper Results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49808" y="3886200"/>
            <a:ext cx="3611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d=2%, 5% comparison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54880" y="1078992"/>
            <a:ext cx="4206240" cy="365760"/>
          </a:xfrm>
          <a:prstGeom prst="rect">
            <a:avLst/>
          </a:prstGeom>
          <a:solidFill>
            <a:srgbClr val="0A1628"/>
          </a:solidFill>
          <a:ln w="5080">
            <a:solidFill>
              <a:srgbClr val="006D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1078992"/>
            <a:ext cx="420624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1078992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230368" y="11155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Summary Dashboard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230368" y="1280160"/>
            <a:ext cx="3611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methods, all noise types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754880" y="1513332"/>
            <a:ext cx="4206240" cy="365760"/>
          </a:xfrm>
          <a:prstGeom prst="rect">
            <a:avLst/>
          </a:prstGeom>
          <a:solidFill>
            <a:srgbClr val="0A1628"/>
          </a:solidFill>
          <a:ln w="5080">
            <a:solidFill>
              <a:srgbClr val="006D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54880" y="1513332"/>
            <a:ext cx="420624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1513332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230368" y="15499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Method Analysis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230368" y="1714500"/>
            <a:ext cx="3611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Winners per noise type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754880" y="1947672"/>
            <a:ext cx="4206240" cy="365760"/>
          </a:xfrm>
          <a:prstGeom prst="rect">
            <a:avLst/>
          </a:prstGeom>
          <a:solidFill>
            <a:srgbClr val="0A1628"/>
          </a:solidFill>
          <a:ln w="5080">
            <a:solidFill>
              <a:srgbClr val="006D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754880" y="1947672"/>
            <a:ext cx="420624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54880" y="1947672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230368" y="19842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Preservation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230368" y="2148840"/>
            <a:ext cx="3611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edge map comparison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754880" y="2382012"/>
            <a:ext cx="4206240" cy="365760"/>
          </a:xfrm>
          <a:prstGeom prst="rect">
            <a:avLst/>
          </a:prstGeom>
          <a:solidFill>
            <a:srgbClr val="0A1628"/>
          </a:solidFill>
          <a:ln w="5080">
            <a:solidFill>
              <a:srgbClr val="006D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754880" y="2382012"/>
            <a:ext cx="420624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54880" y="2382012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230368" y="241858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230368" y="2583180"/>
            <a:ext cx="3611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insights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754880" y="2816352"/>
            <a:ext cx="4206240" cy="365760"/>
          </a:xfrm>
          <a:prstGeom prst="rect">
            <a:avLst/>
          </a:prstGeom>
          <a:solidFill>
            <a:srgbClr val="0A1628"/>
          </a:solidFill>
          <a:ln w="5080">
            <a:solidFill>
              <a:srgbClr val="006D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754880" y="2816352"/>
            <a:ext cx="420624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54880" y="2816352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230368" y="285292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230368" y="3017520"/>
            <a:ext cx="3611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constraints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754880" y="3250692"/>
            <a:ext cx="4206240" cy="365760"/>
          </a:xfrm>
          <a:prstGeom prst="rect">
            <a:avLst/>
          </a:prstGeom>
          <a:solidFill>
            <a:srgbClr val="0A1628"/>
          </a:solidFill>
          <a:ln w="5080">
            <a:solidFill>
              <a:srgbClr val="006D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4754880" y="3250692"/>
            <a:ext cx="420624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754880" y="3250692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5230368" y="32872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5230368" y="3451860"/>
            <a:ext cx="3611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4754880" y="3685032"/>
            <a:ext cx="4206240" cy="365760"/>
          </a:xfrm>
          <a:prstGeom prst="rect">
            <a:avLst/>
          </a:prstGeom>
          <a:solidFill>
            <a:srgbClr val="0A1628"/>
          </a:solidFill>
          <a:ln w="5080">
            <a:solidFill>
              <a:srgbClr val="006D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4754880" y="3685032"/>
            <a:ext cx="420624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54880" y="3685032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5230368" y="37216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5230368" y="3886200"/>
            <a:ext cx="3611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Q&amp;A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74320" y="49057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Mardonali Fayzullayev  ·  ID: 230423  ·  Digital Image Processing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8503920" y="490575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0350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role of medical imaging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5303520" cy="640080"/>
          </a:xfrm>
          <a:prstGeom prst="rect">
            <a:avLst/>
          </a:prstGeom>
          <a:solidFill>
            <a:srgbClr val="112240"/>
          </a:solidFill>
          <a:ln w="6350">
            <a:solidFill>
              <a:srgbClr val="006D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402336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78992"/>
            <a:ext cx="402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🏥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1170432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&amp; CT are the primary diagnostic tools — noise corrupts them during acquisition.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856232"/>
            <a:ext cx="5303520" cy="640080"/>
          </a:xfrm>
          <a:prstGeom prst="rect">
            <a:avLst/>
          </a:prstGeom>
          <a:solidFill>
            <a:srgbClr val="112240"/>
          </a:solidFill>
          <a:ln w="6350">
            <a:solidFill>
              <a:srgbClr val="006D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856232"/>
            <a:ext cx="402336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856232"/>
            <a:ext cx="402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9808" y="1947672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noise (MRI) and Salt &amp; Pepper noise (CT) degrade image quality.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633472"/>
            <a:ext cx="5303520" cy="640080"/>
          </a:xfrm>
          <a:prstGeom prst="rect">
            <a:avLst/>
          </a:prstGeom>
          <a:solidFill>
            <a:srgbClr val="112240"/>
          </a:solidFill>
          <a:ln w="6350">
            <a:solidFill>
              <a:srgbClr val="006D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633472"/>
            <a:ext cx="402336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633472"/>
            <a:ext cx="402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🔬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9808" y="2724912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blurring from naive filters destroys clinically important boundaries.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410712"/>
            <a:ext cx="5303520" cy="640080"/>
          </a:xfrm>
          <a:prstGeom prst="rect">
            <a:avLst/>
          </a:prstGeom>
          <a:solidFill>
            <a:srgbClr val="112240"/>
          </a:solidFill>
          <a:ln w="6350">
            <a:solidFill>
              <a:srgbClr val="006D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410712"/>
            <a:ext cx="402336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410712"/>
            <a:ext cx="402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💡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9808" y="3502152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compare 5 methods: Median, Gaussian, Bilateral, NLM, DnCNN.</a:t>
            </a:r>
            <a:endParaRPr lang="en-US" sz="12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051560"/>
            <a:ext cx="3108960" cy="210312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4320" y="49057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Mardonali Fayzullayev  ·  ID: 230423  ·  Digital Image Processing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8503920" y="490575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Preprocessing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0350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MRI Images for Brain Tumor Detection (Kaggle)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1965960" cy="1005840"/>
          </a:xfrm>
          <a:prstGeom prst="rect">
            <a:avLst/>
          </a:prstGeom>
          <a:solidFill>
            <a:srgbClr val="0A1628"/>
          </a:solidFill>
          <a:ln w="1524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11556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16642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Images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87168" y="1078992"/>
            <a:ext cx="1965960" cy="1005840"/>
          </a:xfrm>
          <a:prstGeom prst="rect">
            <a:avLst/>
          </a:prstGeom>
          <a:solidFill>
            <a:srgbClr val="0A1628"/>
          </a:solidFill>
          <a:ln w="1524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87168" y="111556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256×256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87168" y="16642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Size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0016" y="1078992"/>
            <a:ext cx="1965960" cy="1005840"/>
          </a:xfrm>
          <a:prstGeom prst="rect">
            <a:avLst/>
          </a:prstGeom>
          <a:solidFill>
            <a:srgbClr val="0A1628"/>
          </a:solidFill>
          <a:ln w="15240">
            <a:solidFill>
              <a:srgbClr val="FF8C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00016" y="111556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140/30/30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00016" y="16642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Train/Val/Test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12864" y="1078992"/>
            <a:ext cx="1965960" cy="1005840"/>
          </a:xfrm>
          <a:prstGeom prst="rect">
            <a:avLst/>
          </a:prstGeom>
          <a:solidFill>
            <a:srgbClr val="0A1628"/>
          </a:solidFill>
          <a:ln w="15240">
            <a:solidFill>
              <a:srgbClr val="FF4B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12864" y="111556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912864" y="16642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Variants</a:t>
            </a:r>
            <a:endParaRPr lang="en-US" sz="11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67712"/>
            <a:ext cx="8595360" cy="2542032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74320" y="49057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Mardonali Fayzullayev  ·  ID: 230423  ·  Digital Image Processing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8503920" y="490575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Denoising Methods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0350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classical filters to deep learning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8595360" cy="603504"/>
          </a:xfrm>
          <a:prstGeom prst="rect">
            <a:avLst/>
          </a:prstGeom>
          <a:solidFill>
            <a:srgbClr val="112240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15568"/>
            <a:ext cx="420624" cy="42062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15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1088136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Filter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6112" y="1335024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Non-linear; replaces pixel with neighbourhood median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699248" y="1152144"/>
            <a:ext cx="1060704" cy="310896"/>
          </a:xfrm>
          <a:prstGeom prst="rect">
            <a:avLst/>
          </a:prstGeom>
          <a:solidFill>
            <a:srgbClr val="00B4D8">
              <a:alpha val="75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99248" y="1152144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1746504"/>
            <a:ext cx="8595360" cy="603504"/>
          </a:xfrm>
          <a:prstGeom prst="rect">
            <a:avLst/>
          </a:prstGeom>
          <a:solidFill>
            <a:srgbClr val="112240"/>
          </a:solidFill>
          <a:ln w="10160">
            <a:solidFill>
              <a:srgbClr val="A8C5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1837944"/>
            <a:ext cx="420624" cy="420624"/>
          </a:xfrm>
          <a:prstGeom prst="ellipse">
            <a:avLst/>
          </a:prstGeom>
          <a:solidFill>
            <a:srgbClr val="A8C5D6"/>
          </a:solidFill>
          <a:ln w="12700">
            <a:solidFill>
              <a:srgbClr val="A8C5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837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6112" y="1810512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Filter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6112" y="205740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low-pass; reduces Gaussian noise, blurs edges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699248" y="1874520"/>
            <a:ext cx="1060704" cy="310896"/>
          </a:xfrm>
          <a:prstGeom prst="rect">
            <a:avLst/>
          </a:prstGeom>
          <a:solidFill>
            <a:srgbClr val="A8C5D6">
              <a:alpha val="75000"/>
            </a:srgbClr>
          </a:solidFill>
          <a:ln w="6350">
            <a:solidFill>
              <a:srgbClr val="A8C5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99248" y="1874520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468880"/>
            <a:ext cx="8595360" cy="603504"/>
          </a:xfrm>
          <a:prstGeom prst="rect">
            <a:avLst/>
          </a:prstGeom>
          <a:solidFill>
            <a:srgbClr val="112240"/>
          </a:solidFill>
          <a:ln w="1016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560320"/>
            <a:ext cx="420624" cy="42062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560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96112" y="2532888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Filter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96112" y="2779776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Edge-aware; weights by spatial AND intensity distance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699248" y="2596896"/>
            <a:ext cx="1060704" cy="310896"/>
          </a:xfrm>
          <a:prstGeom prst="rect">
            <a:avLst/>
          </a:prstGeom>
          <a:solidFill>
            <a:srgbClr val="00C896">
              <a:alpha val="75000"/>
            </a:srgbClr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99248" y="2596896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3191256"/>
            <a:ext cx="8595360" cy="603504"/>
          </a:xfrm>
          <a:prstGeom prst="rect">
            <a:avLst/>
          </a:prstGeom>
          <a:solidFill>
            <a:srgbClr val="112240"/>
          </a:solidFill>
          <a:ln w="10160">
            <a:solidFill>
              <a:srgbClr val="FF8C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3282696"/>
            <a:ext cx="420624" cy="420624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826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96112" y="3255264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Non-Local Means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96112" y="3502152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Patch-based self-similarity across entire image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699248" y="3319272"/>
            <a:ext cx="1060704" cy="310896"/>
          </a:xfrm>
          <a:prstGeom prst="rect">
            <a:avLst/>
          </a:prstGeom>
          <a:solidFill>
            <a:srgbClr val="FF8C42">
              <a:alpha val="75000"/>
            </a:srgbClr>
          </a:solidFill>
          <a:ln w="6350">
            <a:solidFill>
              <a:srgbClr val="FF8C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99248" y="3319272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4320" y="3913632"/>
            <a:ext cx="8595360" cy="603504"/>
          </a:xfrm>
          <a:prstGeom prst="rect">
            <a:avLst/>
          </a:prstGeom>
          <a:solidFill>
            <a:srgbClr val="112240"/>
          </a:solidFill>
          <a:ln w="10160">
            <a:solidFill>
              <a:srgbClr val="FF4B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4005072"/>
            <a:ext cx="420624" cy="420624"/>
          </a:xfrm>
          <a:prstGeom prst="ellipse">
            <a:avLst/>
          </a:prstGeom>
          <a:solidFill>
            <a:srgbClr val="FF4B5C"/>
          </a:solidFill>
          <a:ln w="12700">
            <a:solidFill>
              <a:srgbClr val="FF4B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05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96112" y="3977640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DnCNN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96112" y="422452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CNN; 17 layers, trained 50 epochs, MSE loss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699248" y="4041648"/>
            <a:ext cx="1060704" cy="310896"/>
          </a:xfrm>
          <a:prstGeom prst="rect">
            <a:avLst/>
          </a:prstGeom>
          <a:solidFill>
            <a:srgbClr val="FF4B5C">
              <a:alpha val="75000"/>
            </a:srgbClr>
          </a:solidFill>
          <a:ln w="6350">
            <a:solidFill>
              <a:srgbClr val="FF4B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99248" y="404164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9057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Mardonali Fayzullayev  ·  ID: 230423  ·  Digital Image Processing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503920" y="490575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DnCNN Training Results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0350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epochs on CPU — Best val loss: 0.001351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51560"/>
            <a:ext cx="5303520" cy="3291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52160" y="1051560"/>
            <a:ext cx="2999232" cy="658368"/>
          </a:xfrm>
          <a:prstGeom prst="rect">
            <a:avLst/>
          </a:prstGeom>
          <a:solidFill>
            <a:srgbClr val="0A1628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852160" y="1088136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556,097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852160" y="1417320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852160" y="1856232"/>
            <a:ext cx="2999232" cy="658368"/>
          </a:xfrm>
          <a:prstGeom prst="rect">
            <a:avLst/>
          </a:prstGeom>
          <a:solidFill>
            <a:srgbClr val="0A1628"/>
          </a:solidFill>
          <a:ln w="10160">
            <a:solidFill>
              <a:srgbClr val="FF4B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852160" y="1892808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0.1016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852160" y="222199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Loss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852160" y="2660904"/>
            <a:ext cx="2999232" cy="658368"/>
          </a:xfrm>
          <a:prstGeom prst="rect">
            <a:avLst/>
          </a:prstGeom>
          <a:solidFill>
            <a:srgbClr val="0A1628"/>
          </a:solidFill>
          <a:ln w="1016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852160" y="2697480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0.0014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852160" y="3026664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Loss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852160" y="3465576"/>
            <a:ext cx="2999232" cy="658368"/>
          </a:xfrm>
          <a:prstGeom prst="rect">
            <a:avLst/>
          </a:prstGeom>
          <a:solidFill>
            <a:srgbClr val="0A1628"/>
          </a:solidFill>
          <a:ln w="10160">
            <a:solidFill>
              <a:srgbClr val="FF8C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852160" y="3502152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5852160" y="3831336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74320" y="49057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Mardonali Fayzullayev  ·  ID: 230423  ·  Digital Image Processing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8503920" y="490575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Noise Results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0350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σ=10, 20, 30 — PSNR comparison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24128"/>
            <a:ext cx="2880360" cy="178308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1024128"/>
            <a:ext cx="2880360" cy="178308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024128"/>
            <a:ext cx="2880360" cy="17830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82880" y="102412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σ=10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3154680" y="102412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σ=20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6080760" y="102412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σ=30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182880" y="2999232"/>
            <a:ext cx="8778240" cy="402336"/>
          </a:xfrm>
          <a:prstGeom prst="rect">
            <a:avLst/>
          </a:prstGeom>
          <a:solidFill>
            <a:srgbClr val="112240"/>
          </a:solidFill>
          <a:ln w="7620">
            <a:solidFill>
              <a:srgbClr val="00B4D8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82880" y="2999232"/>
            <a:ext cx="91440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347472" y="3090672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σ=10: NLM best (33.6 dB) — global self-similarity advantage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182880" y="3502152"/>
            <a:ext cx="8778240" cy="402336"/>
          </a:xfrm>
          <a:prstGeom prst="rect">
            <a:avLst/>
          </a:prstGeom>
          <a:solidFill>
            <a:srgbClr val="112240"/>
          </a:solidFill>
          <a:ln w="7620">
            <a:solidFill>
              <a:srgbClr val="FF8C4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82880" y="3502152"/>
            <a:ext cx="91440" cy="402336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347472" y="3593592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σ=20: DnCNN leads (30.8 dB) — deep learning takes over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182880" y="4005072"/>
            <a:ext cx="8778240" cy="402336"/>
          </a:xfrm>
          <a:prstGeom prst="rect">
            <a:avLst/>
          </a:prstGeom>
          <a:solidFill>
            <a:srgbClr val="112240"/>
          </a:solidFill>
          <a:ln w="7620">
            <a:solidFill>
              <a:srgbClr val="00C89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82880" y="4005072"/>
            <a:ext cx="91440" cy="40233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47472" y="4096512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σ=30: DnCNN dominates (+2.5 dB over classical methods)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274320" y="49057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Mardonali Fayzullayev  ·  ID: 230423  ·  Digital Image Processing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8503920" y="490575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&amp; Pepper Noise Results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0350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d=2% and d=5% — Median Filter dominates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24128"/>
            <a:ext cx="4297680" cy="265176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24128"/>
            <a:ext cx="4297680" cy="26517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82880" y="3822192"/>
            <a:ext cx="8778240" cy="256032"/>
          </a:xfrm>
          <a:prstGeom prst="rect">
            <a:avLst/>
          </a:prstGeom>
          <a:solidFill>
            <a:srgbClr val="0A1628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82880" y="3822192"/>
            <a:ext cx="73152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0040" y="385876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Median PSNR=35.03 dB at 2% — far exceeds all other methods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182880" y="4142232"/>
            <a:ext cx="8778240" cy="256032"/>
          </a:xfrm>
          <a:prstGeom prst="rect">
            <a:avLst/>
          </a:prstGeom>
          <a:solidFill>
            <a:srgbClr val="0A1628"/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82880" y="4142232"/>
            <a:ext cx="73152" cy="2560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0040" y="417880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Median SSIM=0.974 (2%) and 0.971 (5%) — near-perfect reconstruction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182880" y="4462272"/>
            <a:ext cx="8778240" cy="256032"/>
          </a:xfrm>
          <a:prstGeom prst="rect">
            <a:avLst/>
          </a:prstGeom>
          <a:solidFill>
            <a:srgbClr val="0A1628"/>
          </a:solidFill>
          <a:ln w="6350">
            <a:solidFill>
              <a:srgbClr val="FF4B5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82880" y="4462272"/>
            <a:ext cx="73152" cy="256032"/>
          </a:xfrm>
          <a:prstGeom prst="rect">
            <a:avLst/>
          </a:prstGeom>
          <a:solidFill>
            <a:srgbClr val="FF4B5C"/>
          </a:solidFill>
          <a:ln w="12700">
            <a:solidFill>
              <a:srgbClr val="FF4B5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20040" y="449884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DnCNN (trained on Gaussian) performs poorly on S&amp;P noise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74320" y="49057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Mardonali Fayzullayev  ·  ID: 230423  ·  Digital Image Processing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8503920" y="490575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 Results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0350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Similarity — perceptual quality measure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24128"/>
            <a:ext cx="4297680" cy="265176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24128"/>
            <a:ext cx="4297680" cy="2651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2880" y="374904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σ=20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663440" y="374904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&amp; Pepper 2%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82880" y="406908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DnCNN achieves SSIM=0.832 for Gaussian noise vs Median's 0.974 for S&amp;P — each method excels in its domain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74320" y="49057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Mardonali Fayzullayev  ·  ID: 230423  ·  Digital Image Processing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8503920" y="490575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Results Dashboard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0350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&amp; SSIM across all 5 noise types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24128"/>
            <a:ext cx="8778240" cy="3749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49057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Mardonali Fayzullayev  ·  ID: 230423  ·  Digital Image Processing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503920" y="490575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Filter Comparison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0350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σ=20 — side-by-side denoising results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24128"/>
            <a:ext cx="8778240" cy="237744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3493008"/>
            <a:ext cx="8778240" cy="1371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74320" y="49057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Mardonali Fayzullayev  ·  ID: 230423  ·  Digital Image Processing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8503920" y="490575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Method Per Noise Type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0350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recommendations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8595360" cy="621792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2377440" cy="621792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4358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σ=10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88920" y="1188720"/>
            <a:ext cx="1463040" cy="40233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8920" y="118872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80560" y="11521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PSNR: 33.62 dB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80560" y="14081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SSIM: 0.8443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0" y="1188720"/>
            <a:ext cx="2103120" cy="402336"/>
          </a:xfrm>
          <a:prstGeom prst="rect">
            <a:avLst/>
          </a:prstGeom>
          <a:solidFill>
            <a:srgbClr val="1E3A5F"/>
          </a:solidFill>
          <a:ln w="6350">
            <a:solidFill>
              <a:srgbClr val="006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122529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Light Gaussian noise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1828800"/>
            <a:ext cx="8595360" cy="621792"/>
          </a:xfrm>
          <a:prstGeom prst="rect">
            <a:avLst/>
          </a:prstGeom>
          <a:solidFill>
            <a:srgbClr val="0A1628"/>
          </a:solidFill>
          <a:ln w="127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1828800"/>
            <a:ext cx="2377440" cy="621792"/>
          </a:xfrm>
          <a:prstGeom prst="rect">
            <a:avLst/>
          </a:prstGeom>
          <a:solidFill>
            <a:srgbClr val="FFD700">
              <a:alpha val="80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9933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σ=20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88920" y="1938528"/>
            <a:ext cx="1463040" cy="402336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88920" y="193852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DnCNN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80560" y="19019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PSNR: 30.82 dB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80560" y="215798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SSIM: 0.8321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0" y="1938528"/>
            <a:ext cx="2103120" cy="402336"/>
          </a:xfrm>
          <a:prstGeom prst="rect">
            <a:avLst/>
          </a:prstGeom>
          <a:solidFill>
            <a:srgbClr val="1E3A5F"/>
          </a:solidFill>
          <a:ln w="6350">
            <a:solidFill>
              <a:srgbClr val="006D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197510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Heavy Gaussian noise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578608"/>
            <a:ext cx="8595360" cy="621792"/>
          </a:xfrm>
          <a:prstGeom prst="rect">
            <a:avLst/>
          </a:prstGeom>
          <a:solidFill>
            <a:srgbClr val="0A1628"/>
          </a:solidFill>
          <a:ln w="127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578608"/>
            <a:ext cx="2377440" cy="621792"/>
          </a:xfrm>
          <a:prstGeom prst="rect">
            <a:avLst/>
          </a:prstGeom>
          <a:solidFill>
            <a:srgbClr val="FFD700">
              <a:alpha val="80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7432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σ=30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88920" y="2688336"/>
            <a:ext cx="1463040" cy="402336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88920" y="268833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DnCNN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480560" y="26517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PSNR: 28.47 dB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480560" y="29077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SSIM: 0.7373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83680" y="2688336"/>
            <a:ext cx="2103120" cy="402336"/>
          </a:xfrm>
          <a:prstGeom prst="rect">
            <a:avLst/>
          </a:prstGeom>
          <a:solidFill>
            <a:srgbClr val="1E3A5F"/>
          </a:solidFill>
          <a:ln w="6350">
            <a:solidFill>
              <a:srgbClr val="006D8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9400" y="27249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Heavy Gaussian noise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3328416"/>
            <a:ext cx="8595360" cy="621792"/>
          </a:xfrm>
          <a:prstGeom prst="rect">
            <a:avLst/>
          </a:prstGeom>
          <a:solidFill>
            <a:srgbClr val="0A1628"/>
          </a:solidFill>
          <a:ln w="1270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3328416"/>
            <a:ext cx="2377440" cy="621792"/>
          </a:xfrm>
          <a:prstGeom prst="rect">
            <a:avLst/>
          </a:prstGeom>
          <a:solidFill>
            <a:srgbClr val="00C896">
              <a:alpha val="8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4930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&amp; Pepper 2%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88920" y="3438144"/>
            <a:ext cx="1463040" cy="402336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88920" y="3438144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480560" y="34015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PSNR: 35.03 dB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480560" y="36576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SSIM: 0.9739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583680" y="3438144"/>
            <a:ext cx="2103120" cy="402336"/>
          </a:xfrm>
          <a:prstGeom prst="rect">
            <a:avLst/>
          </a:prstGeom>
          <a:solidFill>
            <a:srgbClr val="1E3A5F"/>
          </a:solidFill>
          <a:ln w="6350">
            <a:solidFill>
              <a:srgbClr val="006D8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29400" y="34747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Any S&amp;P noise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4320" y="4078224"/>
            <a:ext cx="8595360" cy="621792"/>
          </a:xfrm>
          <a:prstGeom prst="rect">
            <a:avLst/>
          </a:prstGeom>
          <a:solidFill>
            <a:srgbClr val="0A1628"/>
          </a:solidFill>
          <a:ln w="1270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74320" y="4078224"/>
            <a:ext cx="2377440" cy="621792"/>
          </a:xfrm>
          <a:prstGeom prst="rect">
            <a:avLst/>
          </a:prstGeom>
          <a:solidFill>
            <a:srgbClr val="00C896">
              <a:alpha val="8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24281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&amp; Pepper 5%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788920" y="4187952"/>
            <a:ext cx="1463040" cy="402336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88920" y="418795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480560" y="415137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PSNR: 33.95 dB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480560" y="44074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SSIM: 0.9712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583680" y="4187952"/>
            <a:ext cx="2103120" cy="402336"/>
          </a:xfrm>
          <a:prstGeom prst="rect">
            <a:avLst/>
          </a:prstGeom>
          <a:solidFill>
            <a:srgbClr val="1E3A5F"/>
          </a:solidFill>
          <a:ln w="6350">
            <a:solidFill>
              <a:srgbClr val="006D8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29400" y="42245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Any S&amp;P noise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" y="49057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Mardonali Fayzullayev  ·  ID: 230423  ·  Digital Image Processing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503920" y="490575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Limitations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0350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from the experiments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4114800" cy="1005840"/>
          </a:xfrm>
          <a:prstGeom prst="rect">
            <a:avLst/>
          </a:prstGeom>
          <a:solidFill>
            <a:srgbClr val="112240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4114800" cy="274320"/>
          </a:xfrm>
          <a:prstGeom prst="rect">
            <a:avLst/>
          </a:prstGeom>
          <a:solidFill>
            <a:srgbClr val="00B4D8">
              <a:alpha val="7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247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426464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method is optimal — noise type determines the best filter.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249424"/>
            <a:ext cx="4114800" cy="1005840"/>
          </a:xfrm>
          <a:prstGeom prst="rect">
            <a:avLst/>
          </a:prstGeom>
          <a:solidFill>
            <a:srgbClr val="112240"/>
          </a:solidFill>
          <a:ln w="1016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249424"/>
            <a:ext cx="4114800" cy="274320"/>
          </a:xfrm>
          <a:prstGeom prst="rect">
            <a:avLst/>
          </a:prstGeom>
          <a:solidFill>
            <a:srgbClr val="00C896">
              <a:alpha val="75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2951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596896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DnCNN's advantage grows with noise severity — +2.5 dB at σ=30.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419856"/>
            <a:ext cx="4114800" cy="1005840"/>
          </a:xfrm>
          <a:prstGeom prst="rect">
            <a:avLst/>
          </a:prstGeom>
          <a:solidFill>
            <a:srgbClr val="112240"/>
          </a:solidFill>
          <a:ln w="10160">
            <a:solidFill>
              <a:srgbClr val="FF8C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419856"/>
            <a:ext cx="4114800" cy="274320"/>
          </a:xfrm>
          <a:prstGeom prst="rect">
            <a:avLst/>
          </a:prstGeom>
          <a:solidFill>
            <a:srgbClr val="FF8C42">
              <a:alpha val="75000"/>
            </a:srgbClr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4655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3767328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Filter's non-linear operation gives it unique S&amp;P resilience.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1078992"/>
            <a:ext cx="4114800" cy="1005840"/>
          </a:xfrm>
          <a:prstGeom prst="rect">
            <a:avLst/>
          </a:prstGeom>
          <a:solidFill>
            <a:srgbClr val="112240"/>
          </a:solidFill>
          <a:ln w="10160">
            <a:solidFill>
              <a:srgbClr val="FF4B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078992"/>
            <a:ext cx="4114800" cy="274320"/>
          </a:xfrm>
          <a:prstGeom prst="rect">
            <a:avLst/>
          </a:prstGeom>
          <a:solidFill>
            <a:srgbClr val="FF4B5C">
              <a:alpha val="75000"/>
            </a:srgbClr>
          </a:solidFill>
          <a:ln w="12700">
            <a:solidFill>
              <a:srgbClr val="FF4B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1247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1426464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DnCNN trained on Gaussian noise only — underperforms on S&amp;P.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2249424"/>
            <a:ext cx="4114800" cy="1005840"/>
          </a:xfrm>
          <a:prstGeom prst="rect">
            <a:avLst/>
          </a:prstGeom>
          <a:solidFill>
            <a:srgbClr val="112240"/>
          </a:solidFill>
          <a:ln w="10160">
            <a:solidFill>
              <a:srgbClr val="A8C5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249424"/>
            <a:ext cx="4114800" cy="274320"/>
          </a:xfrm>
          <a:prstGeom prst="rect">
            <a:avLst/>
          </a:prstGeom>
          <a:solidFill>
            <a:srgbClr val="A8C5D6">
              <a:alpha val="75000"/>
            </a:srgbClr>
          </a:solidFill>
          <a:ln w="12700">
            <a:solidFill>
              <a:srgbClr val="A8C5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2951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2596896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training (50 epochs, 2h) — GPU would give higher PSNR in minutes.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3419856"/>
            <a:ext cx="4114800" cy="1005840"/>
          </a:xfrm>
          <a:prstGeom prst="rect">
            <a:avLst/>
          </a:prstGeom>
          <a:solidFill>
            <a:srgbClr val="112240"/>
          </a:solidFill>
          <a:ln w="1016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3419856"/>
            <a:ext cx="4114800" cy="274320"/>
          </a:xfrm>
          <a:prstGeom prst="rect">
            <a:avLst/>
          </a:prstGeom>
          <a:solidFill>
            <a:srgbClr val="FFD700">
              <a:alpha val="75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4655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0" y="3767328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volumetric, blind denoising, clinical validation with radiologists.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9057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Mardonali Fayzullayev  ·  ID: 230423  ·  Digital Image Processing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503920" y="490575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06D8F">
              <a:alpha val="15000"/>
            </a:srgbClr>
          </a:solidFill>
          <a:ln w="508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00B4D8">
              <a:alpha val="10000"/>
            </a:srgbClr>
          </a:solidFill>
          <a:ln w="381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411480"/>
            <a:ext cx="1965960" cy="1005840"/>
          </a:xfrm>
          <a:prstGeom prst="rect">
            <a:avLst/>
          </a:prstGeom>
          <a:solidFill>
            <a:srgbClr val="112240"/>
          </a:solidFill>
          <a:ln w="1524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4572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85953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S&amp;P noise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 &gt; 0.97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14600" y="411480"/>
            <a:ext cx="1965960" cy="1005840"/>
          </a:xfrm>
          <a:prstGeom prst="rect">
            <a:avLst/>
          </a:prstGeom>
          <a:solidFill>
            <a:srgbClr val="112240"/>
          </a:solidFill>
          <a:ln w="1524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4572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DnCNN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14600" y="85953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Gaussian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+2.5 dB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411480"/>
            <a:ext cx="1965960" cy="1005840"/>
          </a:xfrm>
          <a:prstGeom prst="rect">
            <a:avLst/>
          </a:prstGeom>
          <a:solidFill>
            <a:srgbClr val="112240"/>
          </a:solidFill>
          <a:ln w="1524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4572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09160" y="85953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mild Gaussian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33.6 dB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903720" y="411480"/>
            <a:ext cx="1965960" cy="1005840"/>
          </a:xfrm>
          <a:prstGeom prst="rect">
            <a:avLst/>
          </a:prstGeom>
          <a:solidFill>
            <a:srgbClr val="112240"/>
          </a:solidFill>
          <a:ln w="15240">
            <a:solidFill>
              <a:srgbClr val="FF8C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03720" y="4572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Images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03720" y="85953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Brain MRI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used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1664208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320040" y="2377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320040" y="2880360"/>
            <a:ext cx="3657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0175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Conclusion: Noise type determines the optimal denoising method.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" y="33375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→ S&amp;P  |  DnCNN → Heavy Gaussian  |  NLM → Mild Gaussian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60520" y="3749040"/>
            <a:ext cx="4663440" cy="777240"/>
          </a:xfrm>
          <a:prstGeom prst="rect">
            <a:avLst/>
          </a:prstGeom>
          <a:solidFill>
            <a:srgbClr val="112240"/>
          </a:solidFill>
          <a:ln w="6350">
            <a:solidFill>
              <a:srgbClr val="006D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0" y="380390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Mardonali Fayzullayev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97680" y="409651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230423  ·  Digital Image Processing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9057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Mardonali Fayzullayev  ·  ID: 230423  ·  Digital Image Processing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503920" y="490575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Noise Removal in Medical Images — Final Presentation</dc:title>
  <dc:subject>PptxGenJS Presentation</dc:subject>
  <dc:creator>PptxGenJS</dc:creator>
  <cp:lastModifiedBy>PptxGenJS</cp:lastModifiedBy>
  <cp:revision>1</cp:revision>
  <dcterms:created xsi:type="dcterms:W3CDTF">2026-05-03T09:28:57Z</dcterms:created>
  <dcterms:modified xsi:type="dcterms:W3CDTF">2026-05-03T09:28:57Z</dcterms:modified>
</cp:coreProperties>
</file>