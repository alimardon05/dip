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" charset="1" panose="00000500000000000000"/>
      <p:regular r:id="rId17"/>
    </p:embeddedFont>
    <p:embeddedFont>
      <p:font typeface="Lato Bold" charset="1" panose="020F0502020204030203"/>
      <p:regular r:id="rId18"/>
    </p:embeddedFont>
    <p:embeddedFont>
      <p:font typeface="Lato" charset="1" panose="020F0502020204030203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20630" cy="419100"/>
          </a:xfrm>
          <a:custGeom>
            <a:avLst/>
            <a:gdLst/>
            <a:ahLst/>
            <a:cxnLst/>
            <a:rect r="r" b="b" t="t" l="l"/>
            <a:pathLst>
              <a:path h="419100" w="420630">
                <a:moveTo>
                  <a:pt x="0" y="0"/>
                </a:moveTo>
                <a:lnTo>
                  <a:pt x="420630" y="0"/>
                </a:lnTo>
                <a:lnTo>
                  <a:pt x="4206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01300" y="0"/>
            <a:ext cx="6858000" cy="10287000"/>
            <a:chOff x="0" y="0"/>
            <a:chExt cx="40640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F81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28575"/>
              <a:ext cx="2032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01300" y="1028700"/>
            <a:ext cx="6858000" cy="8229600"/>
            <a:chOff x="0" y="0"/>
            <a:chExt cx="1806222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6222" cy="2167467"/>
            </a:xfrm>
            <a:custGeom>
              <a:avLst/>
              <a:gdLst/>
              <a:ahLst/>
              <a:cxnLst/>
              <a:rect r="r" b="b" t="t" l="l"/>
              <a:pathLst>
                <a:path h="2167467" w="1806222">
                  <a:moveTo>
                    <a:pt x="57573" y="0"/>
                  </a:moveTo>
                  <a:lnTo>
                    <a:pt x="1748649" y="0"/>
                  </a:lnTo>
                  <a:cubicBezTo>
                    <a:pt x="1780446" y="0"/>
                    <a:pt x="1806222" y="25776"/>
                    <a:pt x="1806222" y="57573"/>
                  </a:cubicBezTo>
                  <a:lnTo>
                    <a:pt x="1806222" y="2109894"/>
                  </a:lnTo>
                  <a:cubicBezTo>
                    <a:pt x="1806222" y="2125163"/>
                    <a:pt x="1800157" y="2139807"/>
                    <a:pt x="1789359" y="2150604"/>
                  </a:cubicBezTo>
                  <a:cubicBezTo>
                    <a:pt x="1778562" y="2161401"/>
                    <a:pt x="1763918" y="2167467"/>
                    <a:pt x="1748649" y="2167467"/>
                  </a:cubicBezTo>
                  <a:lnTo>
                    <a:pt x="57573" y="2167467"/>
                  </a:lnTo>
                  <a:cubicBezTo>
                    <a:pt x="42304" y="2167467"/>
                    <a:pt x="27660" y="2161401"/>
                    <a:pt x="16863" y="2150604"/>
                  </a:cubicBezTo>
                  <a:cubicBezTo>
                    <a:pt x="6066" y="2139807"/>
                    <a:pt x="0" y="2125163"/>
                    <a:pt x="0" y="2109894"/>
                  </a:cubicBezTo>
                  <a:lnTo>
                    <a:pt x="0" y="57573"/>
                  </a:lnTo>
                  <a:cubicBezTo>
                    <a:pt x="0" y="42304"/>
                    <a:pt x="6066" y="27660"/>
                    <a:pt x="16863" y="16863"/>
                  </a:cubicBezTo>
                  <a:cubicBezTo>
                    <a:pt x="27660" y="6066"/>
                    <a:pt x="42304" y="0"/>
                    <a:pt x="57573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06222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951271" y="2951133"/>
            <a:ext cx="5513105" cy="2294897"/>
          </a:xfrm>
          <a:custGeom>
            <a:avLst/>
            <a:gdLst/>
            <a:ahLst/>
            <a:cxnLst/>
            <a:rect r="r" b="b" t="t" l="l"/>
            <a:pathLst>
              <a:path h="2294897" w="5513105">
                <a:moveTo>
                  <a:pt x="0" y="0"/>
                </a:moveTo>
                <a:lnTo>
                  <a:pt x="5513106" y="0"/>
                </a:lnTo>
                <a:lnTo>
                  <a:pt x="5513106" y="2294897"/>
                </a:lnTo>
                <a:lnTo>
                  <a:pt x="0" y="2294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705328" y="1321730"/>
            <a:ext cx="7553972" cy="7753350"/>
            <a:chOff x="0" y="0"/>
            <a:chExt cx="1170308" cy="1201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0308" cy="1201197"/>
            </a:xfrm>
            <a:custGeom>
              <a:avLst/>
              <a:gdLst/>
              <a:ahLst/>
              <a:cxnLst/>
              <a:rect r="r" b="b" t="t" l="l"/>
              <a:pathLst>
                <a:path h="1201197" w="1170308">
                  <a:moveTo>
                    <a:pt x="51244" y="0"/>
                  </a:moveTo>
                  <a:lnTo>
                    <a:pt x="1119064" y="0"/>
                  </a:lnTo>
                  <a:cubicBezTo>
                    <a:pt x="1132655" y="0"/>
                    <a:pt x="1145689" y="5399"/>
                    <a:pt x="1155299" y="15009"/>
                  </a:cubicBezTo>
                  <a:cubicBezTo>
                    <a:pt x="1164909" y="24619"/>
                    <a:pt x="1170308" y="37653"/>
                    <a:pt x="1170308" y="51244"/>
                  </a:cubicBezTo>
                  <a:lnTo>
                    <a:pt x="1170308" y="1149953"/>
                  </a:lnTo>
                  <a:cubicBezTo>
                    <a:pt x="1170308" y="1178254"/>
                    <a:pt x="1147365" y="1201197"/>
                    <a:pt x="1119064" y="1201197"/>
                  </a:cubicBezTo>
                  <a:lnTo>
                    <a:pt x="51244" y="1201197"/>
                  </a:lnTo>
                  <a:cubicBezTo>
                    <a:pt x="22943" y="1201197"/>
                    <a:pt x="0" y="1178254"/>
                    <a:pt x="0" y="1149953"/>
                  </a:cubicBezTo>
                  <a:lnTo>
                    <a:pt x="0" y="51244"/>
                  </a:lnTo>
                  <a:cubicBezTo>
                    <a:pt x="0" y="37653"/>
                    <a:pt x="5399" y="24619"/>
                    <a:pt x="15009" y="15009"/>
                  </a:cubicBezTo>
                  <a:cubicBezTo>
                    <a:pt x="24619" y="5399"/>
                    <a:pt x="37653" y="0"/>
                    <a:pt x="51244" y="0"/>
                  </a:cubicBezTo>
                  <a:close/>
                </a:path>
              </a:pathLst>
            </a:custGeom>
            <a:blipFill>
              <a:blip r:embed="rId6"/>
              <a:stretch>
                <a:fillRect l="-41642" t="0" r="-416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3684591"/>
            <a:ext cx="7559923" cy="322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7"/>
              </a:lnSpc>
            </a:pPr>
            <a:r>
              <a:rPr lang="en-US" sz="12739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Noise</a:t>
            </a:r>
            <a:r>
              <a:rPr lang="en-US" sz="12739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7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27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27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moval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3235" y="1121093"/>
            <a:ext cx="1706304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010768"/>
            <a:ext cx="883316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Today I will present my project titled:</a:t>
            </a:r>
          </a:p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“Noise Removal in Medical Images.”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7940" y="1803099"/>
            <a:ext cx="758666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Good morning, respected teacher and dear classmates.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7940" y="2625424"/>
            <a:ext cx="528077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Student full </a:t>
            </a:r>
            <a:r>
              <a:rPr lang="en-US" sz="22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name: MardonAli Fayzullayev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7940" y="3085786"/>
            <a:ext cx="344114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Student ID: 230423  |  CS2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74407"/>
            <a:ext cx="420630" cy="419100"/>
          </a:xfrm>
          <a:custGeom>
            <a:avLst/>
            <a:gdLst/>
            <a:ahLst/>
            <a:cxnLst/>
            <a:rect r="r" b="b" t="t" l="l"/>
            <a:pathLst>
              <a:path h="419100" w="420630">
                <a:moveTo>
                  <a:pt x="0" y="0"/>
                </a:moveTo>
                <a:lnTo>
                  <a:pt x="420630" y="0"/>
                </a:lnTo>
                <a:lnTo>
                  <a:pt x="4206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05308" y="2271139"/>
            <a:ext cx="10871696" cy="6031803"/>
            <a:chOff x="0" y="0"/>
            <a:chExt cx="1398429" cy="7758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8429" cy="775873"/>
            </a:xfrm>
            <a:custGeom>
              <a:avLst/>
              <a:gdLst/>
              <a:ahLst/>
              <a:cxnLst/>
              <a:rect r="r" b="b" t="t" l="l"/>
              <a:pathLst>
                <a:path h="775873" w="1398429">
                  <a:moveTo>
                    <a:pt x="699215" y="0"/>
                  </a:moveTo>
                  <a:cubicBezTo>
                    <a:pt x="313049" y="0"/>
                    <a:pt x="0" y="173685"/>
                    <a:pt x="0" y="387936"/>
                  </a:cubicBezTo>
                  <a:cubicBezTo>
                    <a:pt x="0" y="602188"/>
                    <a:pt x="313049" y="775873"/>
                    <a:pt x="699215" y="775873"/>
                  </a:cubicBezTo>
                  <a:cubicBezTo>
                    <a:pt x="1085380" y="775873"/>
                    <a:pt x="1398429" y="602188"/>
                    <a:pt x="1398429" y="387936"/>
                  </a:cubicBezTo>
                  <a:cubicBezTo>
                    <a:pt x="1398429" y="173685"/>
                    <a:pt x="1085380" y="0"/>
                    <a:pt x="699215" y="0"/>
                  </a:cubicBezTo>
                  <a:close/>
                </a:path>
              </a:pathLst>
            </a:custGeom>
            <a:blipFill>
              <a:blip r:embed="rId4"/>
              <a:stretch>
                <a:fillRect l="-20903" t="0" r="-20903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914339"/>
            <a:ext cx="6653328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Background to 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mova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9787" y="1066800"/>
            <a:ext cx="1921615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Background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98515"/>
            <a:ext cx="6076608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Nowadays, medical imaging such as MRI and CT scans plays a very important role in healthcare.</a:t>
            </a:r>
          </a:p>
          <a:p>
            <a:pPr algn="l">
              <a:lnSpc>
                <a:spcPts val="3479"/>
              </a:lnSpc>
            </a:pPr>
          </a:p>
          <a:p>
            <a:pPr algn="l">
              <a:lnSpc>
                <a:spcPts val="34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808315"/>
            <a:ext cx="7508385" cy="340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Doctors rely on these images to 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diagnose diseases.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However, these images often contain noise, which reduces their quality.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noise can hide important details and make analysis more difficult.</a:t>
            </a:r>
          </a:p>
          <a:p>
            <a:pPr algn="l">
              <a:lnSpc>
                <a:spcPts val="3839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6730" y="974407"/>
            <a:ext cx="420630" cy="419100"/>
          </a:xfrm>
          <a:custGeom>
            <a:avLst/>
            <a:gdLst/>
            <a:ahLst/>
            <a:cxnLst/>
            <a:rect r="r" b="b" t="t" l="l"/>
            <a:pathLst>
              <a:path h="419100" w="420630">
                <a:moveTo>
                  <a:pt x="0" y="0"/>
                </a:moveTo>
                <a:lnTo>
                  <a:pt x="420630" y="0"/>
                </a:lnTo>
                <a:lnTo>
                  <a:pt x="4206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3112" y="2939415"/>
            <a:ext cx="7945681" cy="6318885"/>
            <a:chOff x="0" y="0"/>
            <a:chExt cx="102205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2055" cy="812800"/>
            </a:xfrm>
            <a:custGeom>
              <a:avLst/>
              <a:gdLst/>
              <a:ahLst/>
              <a:cxnLst/>
              <a:rect r="r" b="b" t="t" l="l"/>
              <a:pathLst>
                <a:path h="812800" w="1022055">
                  <a:moveTo>
                    <a:pt x="511028" y="0"/>
                  </a:moveTo>
                  <a:cubicBezTo>
                    <a:pt x="228795" y="0"/>
                    <a:pt x="0" y="181951"/>
                    <a:pt x="0" y="406400"/>
                  </a:cubicBezTo>
                  <a:cubicBezTo>
                    <a:pt x="0" y="630849"/>
                    <a:pt x="228795" y="812800"/>
                    <a:pt x="511028" y="812800"/>
                  </a:cubicBezTo>
                  <a:cubicBezTo>
                    <a:pt x="793260" y="812800"/>
                    <a:pt x="1022055" y="630849"/>
                    <a:pt x="1022055" y="406400"/>
                  </a:cubicBezTo>
                  <a:cubicBezTo>
                    <a:pt x="1022055" y="181951"/>
                    <a:pt x="793260" y="0"/>
                    <a:pt x="511028" y="0"/>
                  </a:cubicBezTo>
                  <a:close/>
                </a:path>
              </a:pathLst>
            </a:custGeom>
            <a:blipFill>
              <a:blip r:embed="rId4"/>
              <a:stretch>
                <a:fillRect l="-3017" t="0" r="-301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603326" y="624840"/>
            <a:ext cx="5130933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Problem </a:t>
            </a:r>
          </a:p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9312" y="1066800"/>
            <a:ext cx="2598831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68792" y="2634430"/>
            <a:ext cx="8866317" cy="451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main problem is that medical images often contain noise.</a:t>
            </a:r>
          </a:p>
          <a:p>
            <a:pPr algn="l" marL="583385" indent="-291693" lvl="1">
              <a:lnSpc>
                <a:spcPts val="3242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noise is caused by imaging devices, environment, or transmission errors</a:t>
            </a:r>
          </a:p>
          <a:p>
            <a:pPr algn="l" marL="583385" indent="-291693" lvl="1">
              <a:lnSpc>
                <a:spcPts val="3242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reduces the overall image quality and clarity</a:t>
            </a:r>
          </a:p>
          <a:p>
            <a:pPr algn="l" marL="583385" indent="-291693" lvl="1">
              <a:lnSpc>
                <a:spcPts val="3242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Important s</a:t>
            </a:r>
            <a:r>
              <a:rPr lang="en-US" sz="270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mall details may be hidden or distorted</a:t>
            </a:r>
          </a:p>
          <a:p>
            <a:pPr algn="l" marL="583385" indent="-291693" lvl="1">
              <a:lnSpc>
                <a:spcPts val="3242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Edges</a:t>
            </a:r>
            <a:r>
              <a:rPr lang="en-US" sz="270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and boundaries become less visible</a:t>
            </a:r>
          </a:p>
          <a:p>
            <a:pPr algn="l" marL="583385" indent="-291693" lvl="1">
              <a:lnSpc>
                <a:spcPts val="3242"/>
              </a:lnSpc>
              <a:buFont typeface="Arial"/>
              <a:buChar char="•"/>
            </a:pPr>
            <a:r>
              <a:rPr lang="en-US" sz="270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makes it difficult for doctors to analyze the image correctly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168792" y="6734175"/>
            <a:ext cx="8866317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 a result, noise can negatively affect diagnosis and decision-making.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Therefore, it is very important to remove noise while preserving important image details.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  <p:transition spd="slow">
    <p:cover dir="r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74407"/>
            <a:ext cx="420630" cy="419100"/>
          </a:xfrm>
          <a:custGeom>
            <a:avLst/>
            <a:gdLst/>
            <a:ahLst/>
            <a:cxnLst/>
            <a:rect r="r" b="b" t="t" l="l"/>
            <a:pathLst>
              <a:path h="419100" w="420630">
                <a:moveTo>
                  <a:pt x="0" y="0"/>
                </a:moveTo>
                <a:lnTo>
                  <a:pt x="420630" y="0"/>
                </a:lnTo>
                <a:lnTo>
                  <a:pt x="4206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52642" y="4204335"/>
            <a:ext cx="4506888" cy="5799126"/>
            <a:chOff x="0" y="0"/>
            <a:chExt cx="698235" cy="8984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8235" cy="898436"/>
            </a:xfrm>
            <a:custGeom>
              <a:avLst/>
              <a:gdLst/>
              <a:ahLst/>
              <a:cxnLst/>
              <a:rect r="r" b="b" t="t" l="l"/>
              <a:pathLst>
                <a:path h="898436" w="698235">
                  <a:moveTo>
                    <a:pt x="85890" y="0"/>
                  </a:moveTo>
                  <a:lnTo>
                    <a:pt x="612345" y="0"/>
                  </a:lnTo>
                  <a:cubicBezTo>
                    <a:pt x="635124" y="0"/>
                    <a:pt x="656971" y="9049"/>
                    <a:pt x="673078" y="25157"/>
                  </a:cubicBezTo>
                  <a:cubicBezTo>
                    <a:pt x="689186" y="41264"/>
                    <a:pt x="698235" y="63110"/>
                    <a:pt x="698235" y="85890"/>
                  </a:cubicBezTo>
                  <a:lnTo>
                    <a:pt x="698235" y="812547"/>
                  </a:lnTo>
                  <a:cubicBezTo>
                    <a:pt x="698235" y="859982"/>
                    <a:pt x="659781" y="898436"/>
                    <a:pt x="612345" y="898436"/>
                  </a:cubicBezTo>
                  <a:lnTo>
                    <a:pt x="85890" y="898436"/>
                  </a:lnTo>
                  <a:cubicBezTo>
                    <a:pt x="63110" y="898436"/>
                    <a:pt x="41264" y="889387"/>
                    <a:pt x="25157" y="873280"/>
                  </a:cubicBezTo>
                  <a:cubicBezTo>
                    <a:pt x="9049" y="857172"/>
                    <a:pt x="0" y="835326"/>
                    <a:pt x="0" y="812547"/>
                  </a:cubicBezTo>
                  <a:lnTo>
                    <a:pt x="0" y="85890"/>
                  </a:lnTo>
                  <a:cubicBezTo>
                    <a:pt x="0" y="38454"/>
                    <a:pt x="38454" y="0"/>
                    <a:pt x="85890" y="0"/>
                  </a:cubicBezTo>
                  <a:close/>
                </a:path>
              </a:pathLst>
            </a:custGeom>
            <a:blipFill>
              <a:blip r:embed="rId4"/>
              <a:stretch>
                <a:fillRect l="-14336" t="0" r="-14336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924173" y="90121"/>
            <a:ext cx="8363827" cy="5487007"/>
          </a:xfrm>
          <a:custGeom>
            <a:avLst/>
            <a:gdLst/>
            <a:ahLst/>
            <a:cxnLst/>
            <a:rect r="r" b="b" t="t" l="l"/>
            <a:pathLst>
              <a:path h="5487007" w="8363827">
                <a:moveTo>
                  <a:pt x="0" y="0"/>
                </a:moveTo>
                <a:lnTo>
                  <a:pt x="8363827" y="0"/>
                </a:lnTo>
                <a:lnTo>
                  <a:pt x="8363827" y="5487007"/>
                </a:lnTo>
                <a:lnTo>
                  <a:pt x="0" y="54870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49330" y="1698923"/>
            <a:ext cx="8015876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 Object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 +</a:t>
            </a:r>
          </a:p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Solution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9312" y="1066800"/>
            <a:ext cx="2902478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Objective +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9312" y="5281406"/>
            <a:ext cx="607660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solve this problem, I will use two filtering techniques: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9312" y="3683933"/>
            <a:ext cx="7875894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The main objective of this project is to remove noise from medical images and improve their quality.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904224" y="6088303"/>
            <a:ext cx="1991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Gaussian filter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04224" y="6532803"/>
            <a:ext cx="178617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Median filter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6028" y="7247737"/>
            <a:ext cx="860940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These filters will be applied and their results will be compared.</a:t>
            </a: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20115"/>
            <a:ext cx="420630" cy="419100"/>
          </a:xfrm>
          <a:custGeom>
            <a:avLst/>
            <a:gdLst/>
            <a:ahLst/>
            <a:cxnLst/>
            <a:rect r="r" b="b" t="t" l="l"/>
            <a:pathLst>
              <a:path h="419100" w="420630">
                <a:moveTo>
                  <a:pt x="0" y="0"/>
                </a:moveTo>
                <a:lnTo>
                  <a:pt x="420630" y="0"/>
                </a:lnTo>
                <a:lnTo>
                  <a:pt x="4206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20996" y="0"/>
            <a:ext cx="4067004" cy="10287000"/>
            <a:chOff x="0" y="0"/>
            <a:chExt cx="482015" cy="1219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2015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2015">
                  <a:moveTo>
                    <a:pt x="0" y="0"/>
                  </a:moveTo>
                  <a:lnTo>
                    <a:pt x="482015" y="0"/>
                  </a:lnTo>
                  <a:lnTo>
                    <a:pt x="482015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F81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82015" cy="1247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09650" y="7069367"/>
            <a:ext cx="6076608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However, it has some disadvantages: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8804267" y="2213692"/>
            <a:ext cx="4756850" cy="1139496"/>
            <a:chOff x="0" y="0"/>
            <a:chExt cx="1696525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23317" y="4831275"/>
            <a:ext cx="4756850" cy="1139496"/>
            <a:chOff x="0" y="0"/>
            <a:chExt cx="1696525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04267" y="3547542"/>
            <a:ext cx="4756850" cy="1139496"/>
            <a:chOff x="0" y="0"/>
            <a:chExt cx="1696525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02048" y="7656585"/>
            <a:ext cx="4756850" cy="1139496"/>
            <a:chOff x="0" y="0"/>
            <a:chExt cx="1696525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10800000">
            <a:off x="8939277" y="2333987"/>
            <a:ext cx="4486829" cy="898905"/>
            <a:chOff x="0" y="0"/>
            <a:chExt cx="2028521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8939277" y="4951571"/>
            <a:ext cx="4486829" cy="898905"/>
            <a:chOff x="0" y="0"/>
            <a:chExt cx="2028521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10800000">
            <a:off x="8939277" y="3667838"/>
            <a:ext cx="4486829" cy="898905"/>
            <a:chOff x="0" y="0"/>
            <a:chExt cx="2028521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8918008" y="7762637"/>
            <a:ext cx="4486829" cy="898905"/>
            <a:chOff x="0" y="0"/>
            <a:chExt cx="2028521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 flipH="true">
            <a:off x="8802048" y="7073158"/>
            <a:ext cx="115960" cy="115317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5674773" y="7820641"/>
            <a:ext cx="2651024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3" id="33"/>
          <p:cNvSpPr txBox="true"/>
          <p:nvPr/>
        </p:nvSpPr>
        <p:spPr>
          <a:xfrm rot="0">
            <a:off x="1028700" y="3713321"/>
            <a:ext cx="513861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Gaussian filter is a smoothing 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technique.</a:t>
            </a:r>
          </a:p>
        </p:txBody>
      </p:sp>
      <p:sp>
        <p:nvSpPr>
          <p:cNvPr name="AutoShape 34" id="34"/>
          <p:cNvSpPr/>
          <p:nvPr/>
        </p:nvSpPr>
        <p:spPr>
          <a:xfrm>
            <a:off x="5015713" y="4361021"/>
            <a:ext cx="3310084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8804267" y="2675679"/>
            <a:ext cx="19050" cy="2725345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6" id="36"/>
          <p:cNvGrpSpPr/>
          <p:nvPr/>
        </p:nvGrpSpPr>
        <p:grpSpPr>
          <a:xfrm rot="-10800000">
            <a:off x="8939277" y="6513671"/>
            <a:ext cx="4486829" cy="897127"/>
            <a:chOff x="0" y="0"/>
            <a:chExt cx="2028521" cy="4055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28521" cy="405596"/>
            </a:xfrm>
            <a:custGeom>
              <a:avLst/>
              <a:gdLst/>
              <a:ahLst/>
              <a:cxnLst/>
              <a:rect r="r" b="b" t="t" l="l"/>
              <a:pathLst>
                <a:path h="405596" w="2028521">
                  <a:moveTo>
                    <a:pt x="1825321" y="0"/>
                  </a:moveTo>
                  <a:cubicBezTo>
                    <a:pt x="1937545" y="0"/>
                    <a:pt x="2028521" y="90796"/>
                    <a:pt x="2028521" y="202798"/>
                  </a:cubicBezTo>
                  <a:cubicBezTo>
                    <a:pt x="2028521" y="314801"/>
                    <a:pt x="1937545" y="405596"/>
                    <a:pt x="1825321" y="405596"/>
                  </a:cubicBezTo>
                  <a:lnTo>
                    <a:pt x="203200" y="405596"/>
                  </a:lnTo>
                  <a:cubicBezTo>
                    <a:pt x="90976" y="405596"/>
                    <a:pt x="0" y="314801"/>
                    <a:pt x="0" y="202798"/>
                  </a:cubicBezTo>
                  <a:cubicBezTo>
                    <a:pt x="0" y="9079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028521" cy="443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49847" y="6420130"/>
            <a:ext cx="4756850" cy="1139496"/>
            <a:chOff x="0" y="0"/>
            <a:chExt cx="1696525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5400000">
            <a:off x="11291329" y="3369804"/>
            <a:ext cx="9835182" cy="3544534"/>
          </a:xfrm>
          <a:custGeom>
            <a:avLst/>
            <a:gdLst/>
            <a:ahLst/>
            <a:cxnLst/>
            <a:rect r="r" b="b" t="t" l="l"/>
            <a:pathLst>
              <a:path h="3544534" w="9835182">
                <a:moveTo>
                  <a:pt x="0" y="0"/>
                </a:moveTo>
                <a:lnTo>
                  <a:pt x="9835182" y="0"/>
                </a:lnTo>
                <a:lnTo>
                  <a:pt x="9835182" y="3544534"/>
                </a:lnTo>
                <a:lnTo>
                  <a:pt x="0" y="3544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7" r="0" b="-968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028700" y="1719497"/>
            <a:ext cx="4967876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au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ss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n 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89312" y="1066800"/>
            <a:ext cx="2328314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Gaussian Filter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363327" y="2488165"/>
            <a:ext cx="363873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IT REDUCES NOISE BY BLURRING THE IMAGE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363327" y="5142071"/>
            <a:ext cx="363873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IT PRESERVES EDGES BETTER</a:t>
            </a: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9363327" y="3770471"/>
            <a:ext cx="363873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IT IS USEFUL FOR GENERAL SMOOTHING</a:t>
            </a:r>
          </a:p>
          <a:p>
            <a:pPr algn="ctr">
              <a:lnSpc>
                <a:spcPts val="2399"/>
              </a:lnSpc>
            </a:pP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9308907" y="7931059"/>
            <a:ext cx="363873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SOME DETAILS MAY BE LOST</a:t>
            </a:r>
          </a:p>
          <a:p>
            <a:pPr algn="ctr">
              <a:lnSpc>
                <a:spcPts val="2399"/>
              </a:lnSpc>
            </a:pP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0" y="6742271"/>
            <a:ext cx="363873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IT BLURS IMPORTANT EDGES</a:t>
            </a: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8476742" y="9007384"/>
            <a:ext cx="536936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 it is not always the best solution.</a:t>
            </a:r>
          </a:p>
        </p:txBody>
      </p:sp>
    </p:spTree>
  </p:cSld>
  <p:clrMapOvr>
    <a:masterClrMapping/>
  </p:clrMapOvr>
  <p:transition spd="slow">
    <p:cover dir="r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20115"/>
            <a:ext cx="420630" cy="419100"/>
          </a:xfrm>
          <a:custGeom>
            <a:avLst/>
            <a:gdLst/>
            <a:ahLst/>
            <a:cxnLst/>
            <a:rect r="r" b="b" t="t" l="l"/>
            <a:pathLst>
              <a:path h="419100" w="420630">
                <a:moveTo>
                  <a:pt x="0" y="0"/>
                </a:moveTo>
                <a:lnTo>
                  <a:pt x="420630" y="0"/>
                </a:lnTo>
                <a:lnTo>
                  <a:pt x="4206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20996" y="0"/>
            <a:ext cx="4067004" cy="10287000"/>
            <a:chOff x="0" y="0"/>
            <a:chExt cx="482015" cy="1219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2015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2015">
                  <a:moveTo>
                    <a:pt x="0" y="0"/>
                  </a:moveTo>
                  <a:lnTo>
                    <a:pt x="482015" y="0"/>
                  </a:lnTo>
                  <a:lnTo>
                    <a:pt x="482015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F81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82015" cy="1247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98009" y="7606329"/>
            <a:ext cx="607660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Advantages: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04267" y="1974457"/>
            <a:ext cx="4756850" cy="1378731"/>
            <a:chOff x="0" y="0"/>
            <a:chExt cx="1696525" cy="4917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6525" cy="491723"/>
            </a:xfrm>
            <a:custGeom>
              <a:avLst/>
              <a:gdLst/>
              <a:ahLst/>
              <a:cxnLst/>
              <a:rect r="r" b="b" t="t" l="l"/>
              <a:pathLst>
                <a:path h="491723" w="1696525">
                  <a:moveTo>
                    <a:pt x="1493325" y="0"/>
                  </a:moveTo>
                  <a:cubicBezTo>
                    <a:pt x="1605549" y="0"/>
                    <a:pt x="1696525" y="110076"/>
                    <a:pt x="1696525" y="245861"/>
                  </a:cubicBezTo>
                  <a:cubicBezTo>
                    <a:pt x="1696525" y="381647"/>
                    <a:pt x="1605549" y="491723"/>
                    <a:pt x="1493325" y="491723"/>
                  </a:cubicBezTo>
                  <a:lnTo>
                    <a:pt x="203200" y="491723"/>
                  </a:lnTo>
                  <a:cubicBezTo>
                    <a:pt x="90976" y="491723"/>
                    <a:pt x="0" y="381647"/>
                    <a:pt x="0" y="245861"/>
                  </a:cubicBezTo>
                  <a:cubicBezTo>
                    <a:pt x="0" y="1100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96525" cy="529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23317" y="4831275"/>
            <a:ext cx="4756850" cy="1139496"/>
            <a:chOff x="0" y="0"/>
            <a:chExt cx="1696525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04267" y="3547542"/>
            <a:ext cx="4756850" cy="1139496"/>
            <a:chOff x="0" y="0"/>
            <a:chExt cx="1696525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02048" y="7656585"/>
            <a:ext cx="4756850" cy="1139496"/>
            <a:chOff x="0" y="0"/>
            <a:chExt cx="1696525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10800000">
            <a:off x="8939277" y="2166523"/>
            <a:ext cx="4486829" cy="1066369"/>
            <a:chOff x="0" y="0"/>
            <a:chExt cx="2028521" cy="4821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521" cy="482112"/>
            </a:xfrm>
            <a:custGeom>
              <a:avLst/>
              <a:gdLst/>
              <a:ahLst/>
              <a:cxnLst/>
              <a:rect r="r" b="b" t="t" l="l"/>
              <a:pathLst>
                <a:path h="482112" w="2028521">
                  <a:moveTo>
                    <a:pt x="1825321" y="0"/>
                  </a:moveTo>
                  <a:cubicBezTo>
                    <a:pt x="1937545" y="0"/>
                    <a:pt x="2028521" y="107924"/>
                    <a:pt x="2028521" y="241056"/>
                  </a:cubicBezTo>
                  <a:cubicBezTo>
                    <a:pt x="2028521" y="374187"/>
                    <a:pt x="1937545" y="482112"/>
                    <a:pt x="1825321" y="482112"/>
                  </a:cubicBezTo>
                  <a:lnTo>
                    <a:pt x="203200" y="482112"/>
                  </a:lnTo>
                  <a:cubicBezTo>
                    <a:pt x="90976" y="482112"/>
                    <a:pt x="0" y="374187"/>
                    <a:pt x="0" y="241056"/>
                  </a:cubicBezTo>
                  <a:cubicBezTo>
                    <a:pt x="0" y="107924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521" cy="520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8939277" y="4951571"/>
            <a:ext cx="4486829" cy="898905"/>
            <a:chOff x="0" y="0"/>
            <a:chExt cx="2028521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10800000">
            <a:off x="8939277" y="3667838"/>
            <a:ext cx="4486829" cy="898905"/>
            <a:chOff x="0" y="0"/>
            <a:chExt cx="2028521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8918008" y="7762637"/>
            <a:ext cx="4486829" cy="898905"/>
            <a:chOff x="0" y="0"/>
            <a:chExt cx="2028521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 flipH="true">
            <a:off x="8668129" y="7186049"/>
            <a:ext cx="62668" cy="1211846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5674773" y="7820641"/>
            <a:ext cx="2651024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3" id="33"/>
          <p:cNvSpPr txBox="true"/>
          <p:nvPr/>
        </p:nvSpPr>
        <p:spPr>
          <a:xfrm rot="0">
            <a:off x="0" y="3713321"/>
            <a:ext cx="7196018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Median filter is very effective for noise removal.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AutoShape 34" id="34"/>
          <p:cNvSpPr/>
          <p:nvPr/>
        </p:nvSpPr>
        <p:spPr>
          <a:xfrm>
            <a:off x="5015713" y="4361021"/>
            <a:ext cx="3310084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8804267" y="2675679"/>
            <a:ext cx="19050" cy="2725345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6" id="36"/>
          <p:cNvGrpSpPr/>
          <p:nvPr/>
        </p:nvGrpSpPr>
        <p:grpSpPr>
          <a:xfrm rot="-10800000">
            <a:off x="8939277" y="6513671"/>
            <a:ext cx="4486829" cy="897127"/>
            <a:chOff x="0" y="0"/>
            <a:chExt cx="2028521" cy="4055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28521" cy="405596"/>
            </a:xfrm>
            <a:custGeom>
              <a:avLst/>
              <a:gdLst/>
              <a:ahLst/>
              <a:cxnLst/>
              <a:rect r="r" b="b" t="t" l="l"/>
              <a:pathLst>
                <a:path h="405596" w="2028521">
                  <a:moveTo>
                    <a:pt x="1825321" y="0"/>
                  </a:moveTo>
                  <a:cubicBezTo>
                    <a:pt x="1937545" y="0"/>
                    <a:pt x="2028521" y="90796"/>
                    <a:pt x="2028521" y="202798"/>
                  </a:cubicBezTo>
                  <a:cubicBezTo>
                    <a:pt x="2028521" y="314801"/>
                    <a:pt x="1937545" y="405596"/>
                    <a:pt x="1825321" y="405596"/>
                  </a:cubicBezTo>
                  <a:lnTo>
                    <a:pt x="203200" y="405596"/>
                  </a:lnTo>
                  <a:cubicBezTo>
                    <a:pt x="90976" y="405596"/>
                    <a:pt x="0" y="314801"/>
                    <a:pt x="0" y="202798"/>
                  </a:cubicBezTo>
                  <a:cubicBezTo>
                    <a:pt x="0" y="9079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028521" cy="443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49847" y="6420130"/>
            <a:ext cx="4756850" cy="1139496"/>
            <a:chOff x="0" y="0"/>
            <a:chExt cx="1696525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5400000">
            <a:off x="10870120" y="3030148"/>
            <a:ext cx="10901239" cy="4223846"/>
          </a:xfrm>
          <a:custGeom>
            <a:avLst/>
            <a:gdLst/>
            <a:ahLst/>
            <a:cxnLst/>
            <a:rect r="r" b="b" t="t" l="l"/>
            <a:pathLst>
              <a:path h="4223846" w="10901239">
                <a:moveTo>
                  <a:pt x="0" y="0"/>
                </a:moveTo>
                <a:lnTo>
                  <a:pt x="10901239" y="0"/>
                </a:lnTo>
                <a:lnTo>
                  <a:pt x="10901239" y="4223846"/>
                </a:lnTo>
                <a:lnTo>
                  <a:pt x="0" y="4223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669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028700" y="1719497"/>
            <a:ext cx="4967876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Med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n 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89312" y="1066800"/>
            <a:ext cx="2328314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Median Filter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342058" y="2223567"/>
            <a:ext cx="363873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IT REPLACES EACH PIXEL WITH THE MEDIAN VALUE OF ITS NEIGHBORS</a:t>
            </a: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9363327" y="5142071"/>
            <a:ext cx="363873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IT REMOVES SMALL VARIATIONS</a:t>
            </a:r>
          </a:p>
          <a:p>
            <a:pPr algn="ctr">
              <a:lnSpc>
                <a:spcPts val="2399"/>
              </a:lnSpc>
            </a:pP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9308907" y="3865721"/>
            <a:ext cx="363873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IT REMOVES NOISE EFFICIENTLY</a:t>
            </a:r>
          </a:p>
          <a:p>
            <a:pPr algn="ctr">
              <a:lnSpc>
                <a:spcPts val="2399"/>
              </a:lnSpc>
            </a:pP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9308907" y="7931059"/>
            <a:ext cx="363873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PRODUCES CLEARER IMAGES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0" y="6742271"/>
            <a:ext cx="363873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KEEPS IMPORTANT DETAILS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95150" y="8307296"/>
            <a:ext cx="8035647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That is why it is often better than Gaussian filtering.</a:t>
            </a:r>
          </a:p>
        </p:txBody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20115"/>
            <a:ext cx="420630" cy="419100"/>
          </a:xfrm>
          <a:custGeom>
            <a:avLst/>
            <a:gdLst/>
            <a:ahLst/>
            <a:cxnLst/>
            <a:rect r="r" b="b" t="t" l="l"/>
            <a:pathLst>
              <a:path h="419100" w="420630">
                <a:moveTo>
                  <a:pt x="0" y="0"/>
                </a:moveTo>
                <a:lnTo>
                  <a:pt x="420630" y="0"/>
                </a:lnTo>
                <a:lnTo>
                  <a:pt x="4206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88370"/>
            <a:ext cx="4756850" cy="1139496"/>
            <a:chOff x="0" y="0"/>
            <a:chExt cx="1696525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7412370"/>
            <a:ext cx="4756850" cy="1139496"/>
            <a:chOff x="0" y="0"/>
            <a:chExt cx="1696525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65575" y="5888370"/>
            <a:ext cx="4756850" cy="1139496"/>
            <a:chOff x="0" y="0"/>
            <a:chExt cx="1696525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65575" y="7412370"/>
            <a:ext cx="4756850" cy="1139496"/>
            <a:chOff x="0" y="0"/>
            <a:chExt cx="1696525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1163710" y="6008666"/>
            <a:ext cx="4486829" cy="898905"/>
            <a:chOff x="0" y="0"/>
            <a:chExt cx="2028521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1163710" y="7532666"/>
            <a:ext cx="4486829" cy="898905"/>
            <a:chOff x="0" y="0"/>
            <a:chExt cx="2028521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0800000">
            <a:off x="6900585" y="6008666"/>
            <a:ext cx="4486829" cy="898905"/>
            <a:chOff x="0" y="0"/>
            <a:chExt cx="2028521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6900585" y="7532666"/>
            <a:ext cx="4486829" cy="898905"/>
            <a:chOff x="0" y="0"/>
            <a:chExt cx="2028521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502450" y="5888370"/>
            <a:ext cx="4756850" cy="1139496"/>
            <a:chOff x="0" y="0"/>
            <a:chExt cx="1696525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502450" y="7412370"/>
            <a:ext cx="4756850" cy="1139496"/>
            <a:chOff x="0" y="0"/>
            <a:chExt cx="1696525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96525" cy="406400"/>
            </a:xfrm>
            <a:custGeom>
              <a:avLst/>
              <a:gdLst/>
              <a:ahLst/>
              <a:cxnLst/>
              <a:rect r="r" b="b" t="t" l="l"/>
              <a:pathLst>
                <a:path h="406400" w="1696525">
                  <a:moveTo>
                    <a:pt x="1493325" y="0"/>
                  </a:moveTo>
                  <a:cubicBezTo>
                    <a:pt x="1605549" y="0"/>
                    <a:pt x="1696525" y="90976"/>
                    <a:pt x="1696525" y="203200"/>
                  </a:cubicBezTo>
                  <a:cubicBezTo>
                    <a:pt x="1696525" y="315424"/>
                    <a:pt x="1605549" y="406400"/>
                    <a:pt x="14933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69652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10800000">
            <a:off x="12637460" y="6008666"/>
            <a:ext cx="4486829" cy="898905"/>
            <a:chOff x="0" y="0"/>
            <a:chExt cx="2028521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10800000">
            <a:off x="12637460" y="7532666"/>
            <a:ext cx="4486829" cy="898905"/>
            <a:chOff x="0" y="0"/>
            <a:chExt cx="2028521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28521" cy="406400"/>
            </a:xfrm>
            <a:custGeom>
              <a:avLst/>
              <a:gdLst/>
              <a:ahLst/>
              <a:cxnLst/>
              <a:rect r="r" b="b" t="t" l="l"/>
              <a:pathLst>
                <a:path h="406400" w="2028521">
                  <a:moveTo>
                    <a:pt x="1825321" y="0"/>
                  </a:moveTo>
                  <a:cubicBezTo>
                    <a:pt x="1937545" y="0"/>
                    <a:pt x="2028521" y="90976"/>
                    <a:pt x="2028521" y="203200"/>
                  </a:cubicBezTo>
                  <a:cubicBezTo>
                    <a:pt x="2028521" y="315424"/>
                    <a:pt x="1937545" y="406400"/>
                    <a:pt x="18253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81F4">
                    <a:alpha val="100000"/>
                  </a:srgbClr>
                </a:gs>
                <a:gs pos="100000">
                  <a:srgbClr val="85ABE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02852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6765575" y="964920"/>
            <a:ext cx="11301259" cy="4266225"/>
          </a:xfrm>
          <a:custGeom>
            <a:avLst/>
            <a:gdLst/>
            <a:ahLst/>
            <a:cxnLst/>
            <a:rect r="r" b="b" t="t" l="l"/>
            <a:pathLst>
              <a:path h="4266225" w="11301259">
                <a:moveTo>
                  <a:pt x="0" y="0"/>
                </a:moveTo>
                <a:lnTo>
                  <a:pt x="11301259" y="0"/>
                </a:lnTo>
                <a:lnTo>
                  <a:pt x="11301259" y="4266225"/>
                </a:lnTo>
                <a:lnTo>
                  <a:pt x="0" y="426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028700" y="3325824"/>
            <a:ext cx="6979556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Metho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ogy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89312" y="1066800"/>
            <a:ext cx="3347463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Methodology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87760" y="6162843"/>
            <a:ext cx="363873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LOAD THE INPUT IMAGE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77475" y="7686843"/>
            <a:ext cx="30593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APPLY MEDIAN FILTER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324635" y="6162843"/>
            <a:ext cx="363873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PERFORM PREPROCESSING IF NEEDED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751355" y="7686843"/>
            <a:ext cx="278529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DISPLAY THE RESULTS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51070" y="6162843"/>
            <a:ext cx="305961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APPLY GAUSSIAN FILTER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351070" y="7686843"/>
            <a:ext cx="305961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999">
                <a:solidFill>
                  <a:srgbClr val="FAFAFA"/>
                </a:solidFill>
                <a:latin typeface="Lato Bold"/>
                <a:ea typeface="Lato Bold"/>
                <a:cs typeface="Lato Bold"/>
                <a:sym typeface="Lato Bold"/>
              </a:rPr>
              <a:t>COMPARE AND ANALYZE THE OUTPUTS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4326270"/>
            <a:ext cx="60766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project follows these steps: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3773807" y="8999542"/>
            <a:ext cx="10022681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process helps evaluate the performance of both methods.</a:t>
            </a:r>
          </a:p>
        </p:txBody>
      </p:sp>
    </p:spTree>
  </p:cSld>
  <p:clrMapOvr>
    <a:masterClrMapping/>
  </p:clrMapOvr>
  <p:transition spd="slow">
    <p:cover dir="r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8682" y="985202"/>
            <a:ext cx="420630" cy="419100"/>
          </a:xfrm>
          <a:custGeom>
            <a:avLst/>
            <a:gdLst/>
            <a:ahLst/>
            <a:cxnLst/>
            <a:rect r="r" b="b" t="t" l="l"/>
            <a:pathLst>
              <a:path h="419100" w="420630">
                <a:moveTo>
                  <a:pt x="0" y="0"/>
                </a:moveTo>
                <a:lnTo>
                  <a:pt x="420630" y="0"/>
                </a:lnTo>
                <a:lnTo>
                  <a:pt x="4206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0188" y="4048755"/>
            <a:ext cx="8796150" cy="5816454"/>
          </a:xfrm>
          <a:custGeom>
            <a:avLst/>
            <a:gdLst/>
            <a:ahLst/>
            <a:cxnLst/>
            <a:rect r="r" b="b" t="t" l="l"/>
            <a:pathLst>
              <a:path h="5816454" w="8796150">
                <a:moveTo>
                  <a:pt x="0" y="0"/>
                </a:moveTo>
                <a:lnTo>
                  <a:pt x="8796150" y="0"/>
                </a:lnTo>
                <a:lnTo>
                  <a:pt x="8796150" y="5816455"/>
                </a:lnTo>
                <a:lnTo>
                  <a:pt x="0" y="5816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8682" y="2191334"/>
            <a:ext cx="6225540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ataset </a:t>
            </a:r>
            <a:r>
              <a:rPr lang="en-US" sz="6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and R</a:t>
            </a:r>
            <a:r>
              <a:rPr lang="en-US" b="true" sz="6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esults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9312" y="1066800"/>
            <a:ext cx="2400085" cy="29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Dataset +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682" y="4519244"/>
            <a:ext cx="7604776" cy="55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7"/>
              </a:lnSpc>
            </a:pPr>
            <a:r>
              <a:rPr lang="en-US" sz="3298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 this project, I will use:</a:t>
            </a:r>
          </a:p>
          <a:p>
            <a:pPr algn="l" marL="712069" indent="-356035" lvl="1">
              <a:lnSpc>
                <a:spcPts val="3957"/>
              </a:lnSpc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MRI or CT images</a:t>
            </a:r>
          </a:p>
          <a:p>
            <a:pPr algn="l" marL="712069" indent="-356035" lvl="1">
              <a:lnSpc>
                <a:spcPts val="3957"/>
              </a:lnSpc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JPG or PNG format</a:t>
            </a:r>
          </a:p>
          <a:p>
            <a:pPr algn="l" marL="712069" indent="-356035" lvl="1">
              <a:lnSpc>
                <a:spcPts val="3957"/>
              </a:lnSpc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Several sample images</a:t>
            </a:r>
          </a:p>
          <a:p>
            <a:pPr algn="l">
              <a:lnSpc>
                <a:spcPts val="3957"/>
              </a:lnSpc>
            </a:pPr>
          </a:p>
          <a:p>
            <a:pPr algn="l">
              <a:lnSpc>
                <a:spcPts val="3957"/>
              </a:lnSpc>
            </a:pPr>
            <a:r>
              <a:rPr lang="en-US" sz="3298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Expected results:</a:t>
            </a:r>
          </a:p>
          <a:p>
            <a:pPr algn="l" marL="712069" indent="-356035" lvl="1">
              <a:lnSpc>
                <a:spcPts val="3957"/>
              </a:lnSpc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Cleaner images</a:t>
            </a:r>
          </a:p>
          <a:p>
            <a:pPr algn="l" marL="712069" indent="-356035" lvl="1">
              <a:lnSpc>
                <a:spcPts val="3957"/>
              </a:lnSpc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Outputs from both filters</a:t>
            </a:r>
          </a:p>
          <a:p>
            <a:pPr algn="l" marL="712069" indent="-356035" lvl="1">
              <a:lnSpc>
                <a:spcPts val="3957"/>
              </a:lnSpc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Clear comparison between them</a:t>
            </a:r>
          </a:p>
          <a:p>
            <a:pPr algn="l">
              <a:lnSpc>
                <a:spcPts val="3957"/>
              </a:lnSpc>
            </a:pPr>
            <a:r>
              <a:rPr lang="en-US" sz="3298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This will help identify the better method</a:t>
            </a:r>
          </a:p>
          <a:p>
            <a:pPr algn="l">
              <a:lnSpc>
                <a:spcPts val="395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720848" y="480695"/>
            <a:ext cx="622554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alysi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31561" y="546556"/>
            <a:ext cx="7604776" cy="350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7"/>
              </a:lnSpc>
            </a:pPr>
            <a:r>
              <a:rPr lang="en-US" sz="3298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The analysis will focus on:</a:t>
            </a:r>
          </a:p>
          <a:p>
            <a:pPr algn="l" marL="712069" indent="-356035" lvl="1">
              <a:lnSpc>
                <a:spcPts val="3957"/>
              </a:lnSpc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Improvement in image quality</a:t>
            </a:r>
          </a:p>
          <a:p>
            <a:pPr algn="l" marL="712069" indent="-356035" lvl="1">
              <a:lnSpc>
                <a:spcPts val="3957"/>
              </a:lnSpc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</a:t>
            </a:r>
            <a:r>
              <a:rPr lang="en-US" b="true" sz="3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mount of noise reduction</a:t>
            </a:r>
          </a:p>
          <a:p>
            <a:pPr algn="l" marL="712069" indent="-356035" lvl="1">
              <a:lnSpc>
                <a:spcPts val="3957"/>
              </a:lnSpc>
              <a:buFont typeface="Arial"/>
              <a:buChar char="•"/>
            </a:pPr>
            <a:r>
              <a:rPr lang="en-US" b="true" sz="3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Preservation of edges</a:t>
            </a:r>
          </a:p>
          <a:p>
            <a:pPr algn="l">
              <a:lnSpc>
                <a:spcPts val="3957"/>
              </a:lnSpc>
            </a:pPr>
            <a:r>
              <a:rPr lang="en-US" sz="3298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Ba</a:t>
            </a:r>
            <a:r>
              <a:rPr lang="en-US" sz="3298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sed on these factors, the performance of each filter will be evaluated.</a:t>
            </a:r>
          </a:p>
          <a:p>
            <a:pPr algn="l">
              <a:lnSpc>
                <a:spcPts val="3957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8070" y="454537"/>
            <a:ext cx="420630" cy="419100"/>
          </a:xfrm>
          <a:custGeom>
            <a:avLst/>
            <a:gdLst/>
            <a:ahLst/>
            <a:cxnLst/>
            <a:rect r="r" b="b" t="t" l="l"/>
            <a:pathLst>
              <a:path h="419100" w="420630">
                <a:moveTo>
                  <a:pt x="0" y="0"/>
                </a:moveTo>
                <a:lnTo>
                  <a:pt x="420630" y="0"/>
                </a:lnTo>
                <a:lnTo>
                  <a:pt x="4206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219700"/>
            <a:ext cx="16230600" cy="5067300"/>
            <a:chOff x="0" y="0"/>
            <a:chExt cx="2514545" cy="7850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14545" cy="785057"/>
            </a:xfrm>
            <a:custGeom>
              <a:avLst/>
              <a:gdLst/>
              <a:ahLst/>
              <a:cxnLst/>
              <a:rect r="r" b="b" t="t" l="l"/>
              <a:pathLst>
                <a:path h="785057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785057"/>
                  </a:lnTo>
                  <a:lnTo>
                    <a:pt x="0" y="785057"/>
                  </a:lnTo>
                  <a:close/>
                </a:path>
              </a:pathLst>
            </a:custGeom>
            <a:blipFill>
              <a:blip r:embed="rId4"/>
              <a:stretch>
                <a:fillRect l="0" t="-39684" r="0" b="-39684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599586"/>
            <a:ext cx="591208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App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lica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ion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1847" y="492637"/>
            <a:ext cx="2914771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Applications and Limitations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6325" y="2536846"/>
            <a:ext cx="6615837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project can be used in:</a:t>
            </a:r>
          </a:p>
          <a:p>
            <a:pPr algn="l" marL="626104" indent="-31305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Medical diagnosis</a:t>
            </a:r>
          </a:p>
          <a:p>
            <a:pPr algn="l" marL="626104" indent="-31305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Computer vision systems</a:t>
            </a:r>
          </a:p>
          <a:p>
            <a:pPr algn="l" marL="626104" indent="-31305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preprocessing for AI</a:t>
            </a:r>
          </a:p>
          <a:p>
            <a:pPr algn="l" marL="626104" indent="-31305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Surveillance and enhancement systems</a:t>
            </a:r>
          </a:p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It has important real-world applications.</a:t>
            </a:r>
          </a:p>
          <a:p>
            <a:pPr algn="l">
              <a:lnSpc>
                <a:spcPts val="34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339004" y="1599586"/>
            <a:ext cx="473983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Limita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ion</a:t>
            </a:r>
            <a:r>
              <a:rPr lang="en-US" sz="6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3304" y="2527321"/>
            <a:ext cx="6615837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There are some limitations:</a:t>
            </a:r>
          </a:p>
          <a:p>
            <a:pPr algn="l" marL="626104" indent="-31305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Small dataset</a:t>
            </a:r>
          </a:p>
          <a:p>
            <a:pPr algn="l" marL="626104" indent="-31305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Only basic filtering techniques are used</a:t>
            </a:r>
          </a:p>
          <a:p>
            <a:pPr algn="l" marL="626104" indent="-31305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 advanced AI or deep learning</a:t>
            </a:r>
          </a:p>
          <a:p>
            <a:pPr algn="l" marL="626104" indent="-313052" lvl="1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Results may not be perfect in all </a:t>
            </a:r>
            <a:r>
              <a:rPr lang="en-US" sz="2899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cases</a:t>
            </a:r>
          </a:p>
          <a:p>
            <a:pPr algn="l">
              <a:lnSpc>
                <a:spcPts val="3479"/>
              </a:lnSpc>
            </a:pPr>
          </a:p>
        </p:txBody>
      </p:sp>
    </p:spTree>
  </p:cSld>
  <p:clrMapOvr>
    <a:masterClrMapping/>
  </p:clrMapOvr>
  <p:transition spd="slow">
    <p:cover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8385" y="809625"/>
            <a:ext cx="420630" cy="419100"/>
          </a:xfrm>
          <a:custGeom>
            <a:avLst/>
            <a:gdLst/>
            <a:ahLst/>
            <a:cxnLst/>
            <a:rect r="r" b="b" t="t" l="l"/>
            <a:pathLst>
              <a:path h="419100" w="420630">
                <a:moveTo>
                  <a:pt x="0" y="0"/>
                </a:moveTo>
                <a:lnTo>
                  <a:pt x="420630" y="0"/>
                </a:lnTo>
                <a:lnTo>
                  <a:pt x="4206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53609" y="0"/>
            <a:ext cx="9605691" cy="9258300"/>
            <a:chOff x="0" y="0"/>
            <a:chExt cx="1138452" cy="10972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84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38452">
                  <a:moveTo>
                    <a:pt x="0" y="0"/>
                  </a:moveTo>
                  <a:lnTo>
                    <a:pt x="1138452" y="0"/>
                  </a:lnTo>
                  <a:lnTo>
                    <a:pt x="1138452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85AB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138452" cy="1125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05412" y="6023440"/>
            <a:ext cx="6644148" cy="2899931"/>
            <a:chOff x="0" y="0"/>
            <a:chExt cx="787455" cy="3436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7455" cy="343696"/>
            </a:xfrm>
            <a:custGeom>
              <a:avLst/>
              <a:gdLst/>
              <a:ahLst/>
              <a:cxnLst/>
              <a:rect r="r" b="b" t="t" l="l"/>
              <a:pathLst>
                <a:path h="343696" w="787455">
                  <a:moveTo>
                    <a:pt x="0" y="0"/>
                  </a:moveTo>
                  <a:lnTo>
                    <a:pt x="787455" y="0"/>
                  </a:lnTo>
                  <a:lnTo>
                    <a:pt x="787455" y="343696"/>
                  </a:lnTo>
                  <a:lnTo>
                    <a:pt x="0" y="343696"/>
                  </a:lnTo>
                  <a:close/>
                </a:path>
              </a:pathLst>
            </a:custGeom>
            <a:solidFill>
              <a:srgbClr val="3F81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87455" cy="37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66971" y="0"/>
            <a:ext cx="10921029" cy="5787348"/>
          </a:xfrm>
          <a:custGeom>
            <a:avLst/>
            <a:gdLst/>
            <a:ahLst/>
            <a:cxnLst/>
            <a:rect r="r" b="b" t="t" l="l"/>
            <a:pathLst>
              <a:path h="5787348" w="10921029">
                <a:moveTo>
                  <a:pt x="0" y="0"/>
                </a:moveTo>
                <a:lnTo>
                  <a:pt x="10921029" y="0"/>
                </a:lnTo>
                <a:lnTo>
                  <a:pt x="10921029" y="5787348"/>
                </a:lnTo>
                <a:lnTo>
                  <a:pt x="0" y="5787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18385" y="2315676"/>
            <a:ext cx="5717413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nclus</a:t>
            </a:r>
            <a:r>
              <a:rPr lang="en-US" sz="6500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8385" y="3444198"/>
            <a:ext cx="6219232" cy="467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1"/>
              </a:lnSpc>
            </a:pPr>
            <a:r>
              <a:rPr lang="en-US" sz="30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 conclusion, this project improves medical image quality by removing noise.</a:t>
            </a:r>
          </a:p>
          <a:p>
            <a:pPr algn="l">
              <a:lnSpc>
                <a:spcPts val="3631"/>
              </a:lnSpc>
            </a:pPr>
            <a:r>
              <a:rPr lang="en-US" sz="30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 used Gaussian and Median filters and compared their performance.</a:t>
            </a:r>
          </a:p>
          <a:p>
            <a:pPr algn="l">
              <a:lnSpc>
                <a:spcPts val="2191"/>
              </a:lnSpc>
            </a:pPr>
          </a:p>
          <a:p>
            <a:pPr algn="l">
              <a:lnSpc>
                <a:spcPts val="2191"/>
              </a:lnSpc>
            </a:pPr>
          </a:p>
          <a:p>
            <a:pPr algn="l">
              <a:lnSpc>
                <a:spcPts val="3631"/>
              </a:lnSpc>
            </a:pPr>
            <a:r>
              <a:rPr lang="en-US" sz="30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 results show that the Median filter performs better because it preserves important details.</a:t>
            </a:r>
          </a:p>
          <a:p>
            <a:pPr algn="l">
              <a:lnSpc>
                <a:spcPts val="363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015292" y="6248400"/>
            <a:ext cx="5624387" cy="300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Overall, this project demonstrates how simple image processing techniques can significantly improve image quality.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AFAFA"/>
                </a:solidFill>
                <a:latin typeface="Lato"/>
                <a:ea typeface="Lato"/>
                <a:cs typeface="Lato"/>
                <a:sym typeface="Lato"/>
              </a:rPr>
              <a:t>In the future, this work can be extended by using more advanced methods such as adaptive filters or deep learning techniques for even better results.</a:t>
            </a:r>
          </a:p>
          <a:p>
            <a:pPr algn="l">
              <a:lnSpc>
                <a:spcPts val="2639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20115"/>
            <a:ext cx="420630" cy="419100"/>
          </a:xfrm>
          <a:custGeom>
            <a:avLst/>
            <a:gdLst/>
            <a:ahLst/>
            <a:cxnLst/>
            <a:rect r="r" b="b" t="t" l="l"/>
            <a:pathLst>
              <a:path h="419100" w="420630">
                <a:moveTo>
                  <a:pt x="0" y="0"/>
                </a:moveTo>
                <a:lnTo>
                  <a:pt x="420630" y="0"/>
                </a:lnTo>
                <a:lnTo>
                  <a:pt x="42063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01300" y="0"/>
            <a:ext cx="6858000" cy="10287000"/>
            <a:chOff x="0" y="0"/>
            <a:chExt cx="40640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F81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28575"/>
              <a:ext cx="2032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94180" y="0"/>
            <a:ext cx="6858000" cy="10287000"/>
            <a:chOff x="0" y="0"/>
            <a:chExt cx="406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F81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28575"/>
              <a:ext cx="203200" cy="638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999861" y="6398664"/>
            <a:ext cx="9203844" cy="2367208"/>
            <a:chOff x="0" y="0"/>
            <a:chExt cx="2424058" cy="6234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24058" cy="623462"/>
            </a:xfrm>
            <a:custGeom>
              <a:avLst/>
              <a:gdLst/>
              <a:ahLst/>
              <a:cxnLst/>
              <a:rect r="r" b="b" t="t" l="l"/>
              <a:pathLst>
                <a:path h="623462" w="2424058">
                  <a:moveTo>
                    <a:pt x="50470" y="0"/>
                  </a:moveTo>
                  <a:lnTo>
                    <a:pt x="2373588" y="0"/>
                  </a:lnTo>
                  <a:cubicBezTo>
                    <a:pt x="2401462" y="0"/>
                    <a:pt x="2424058" y="22596"/>
                    <a:pt x="2424058" y="50470"/>
                  </a:cubicBezTo>
                  <a:lnTo>
                    <a:pt x="2424058" y="572992"/>
                  </a:lnTo>
                  <a:cubicBezTo>
                    <a:pt x="2424058" y="586378"/>
                    <a:pt x="2418740" y="599215"/>
                    <a:pt x="2409275" y="608680"/>
                  </a:cubicBezTo>
                  <a:cubicBezTo>
                    <a:pt x="2399810" y="618145"/>
                    <a:pt x="2386973" y="623462"/>
                    <a:pt x="2373588" y="623462"/>
                  </a:cubicBezTo>
                  <a:lnTo>
                    <a:pt x="50470" y="623462"/>
                  </a:lnTo>
                  <a:cubicBezTo>
                    <a:pt x="37084" y="623462"/>
                    <a:pt x="24247" y="618145"/>
                    <a:pt x="14782" y="608680"/>
                  </a:cubicBezTo>
                  <a:cubicBezTo>
                    <a:pt x="5317" y="599215"/>
                    <a:pt x="0" y="586378"/>
                    <a:pt x="0" y="572992"/>
                  </a:cubicBezTo>
                  <a:lnTo>
                    <a:pt x="0" y="50470"/>
                  </a:lnTo>
                  <a:cubicBezTo>
                    <a:pt x="0" y="37084"/>
                    <a:pt x="5317" y="24247"/>
                    <a:pt x="14782" y="14782"/>
                  </a:cubicBezTo>
                  <a:cubicBezTo>
                    <a:pt x="24247" y="5317"/>
                    <a:pt x="37084" y="0"/>
                    <a:pt x="50470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24058" cy="661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82604" y="6434820"/>
            <a:ext cx="5513105" cy="2294897"/>
          </a:xfrm>
          <a:custGeom>
            <a:avLst/>
            <a:gdLst/>
            <a:ahLst/>
            <a:cxnLst/>
            <a:rect r="r" b="b" t="t" l="l"/>
            <a:pathLst>
              <a:path h="2294897" w="5513105">
                <a:moveTo>
                  <a:pt x="0" y="0"/>
                </a:moveTo>
                <a:lnTo>
                  <a:pt x="5513105" y="0"/>
                </a:lnTo>
                <a:lnTo>
                  <a:pt x="5513105" y="2294897"/>
                </a:lnTo>
                <a:lnTo>
                  <a:pt x="0" y="2294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182405" y="6577565"/>
            <a:ext cx="8838756" cy="2009407"/>
            <a:chOff x="0" y="0"/>
            <a:chExt cx="1369355" cy="3113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9355" cy="311310"/>
            </a:xfrm>
            <a:custGeom>
              <a:avLst/>
              <a:gdLst/>
              <a:ahLst/>
              <a:cxnLst/>
              <a:rect r="r" b="b" t="t" l="l"/>
              <a:pathLst>
                <a:path h="311310" w="1369355">
                  <a:moveTo>
                    <a:pt x="43795" y="0"/>
                  </a:moveTo>
                  <a:lnTo>
                    <a:pt x="1325559" y="0"/>
                  </a:lnTo>
                  <a:cubicBezTo>
                    <a:pt x="1337174" y="0"/>
                    <a:pt x="1348314" y="4614"/>
                    <a:pt x="1356527" y="12827"/>
                  </a:cubicBezTo>
                  <a:cubicBezTo>
                    <a:pt x="1364740" y="21041"/>
                    <a:pt x="1369355" y="32180"/>
                    <a:pt x="1369355" y="43795"/>
                  </a:cubicBezTo>
                  <a:lnTo>
                    <a:pt x="1369355" y="267514"/>
                  </a:lnTo>
                  <a:cubicBezTo>
                    <a:pt x="1369355" y="279130"/>
                    <a:pt x="1364740" y="290269"/>
                    <a:pt x="1356527" y="298482"/>
                  </a:cubicBezTo>
                  <a:cubicBezTo>
                    <a:pt x="1348314" y="306696"/>
                    <a:pt x="1337174" y="311310"/>
                    <a:pt x="1325559" y="311310"/>
                  </a:cubicBezTo>
                  <a:lnTo>
                    <a:pt x="43795" y="311310"/>
                  </a:lnTo>
                  <a:cubicBezTo>
                    <a:pt x="32180" y="311310"/>
                    <a:pt x="21041" y="306696"/>
                    <a:pt x="12827" y="298482"/>
                  </a:cubicBezTo>
                  <a:cubicBezTo>
                    <a:pt x="4614" y="290269"/>
                    <a:pt x="0" y="279130"/>
                    <a:pt x="0" y="267514"/>
                  </a:cubicBezTo>
                  <a:lnTo>
                    <a:pt x="0" y="43795"/>
                  </a:lnTo>
                  <a:cubicBezTo>
                    <a:pt x="0" y="32180"/>
                    <a:pt x="4614" y="21041"/>
                    <a:pt x="12827" y="12827"/>
                  </a:cubicBezTo>
                  <a:cubicBezTo>
                    <a:pt x="21041" y="4614"/>
                    <a:pt x="32180" y="0"/>
                    <a:pt x="4379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73713" r="0" b="-73713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028700" y="4602280"/>
            <a:ext cx="304344" cy="304344"/>
          </a:xfrm>
          <a:custGeom>
            <a:avLst/>
            <a:gdLst/>
            <a:ahLst/>
            <a:cxnLst/>
            <a:rect r="r" b="b" t="t" l="l"/>
            <a:pathLst>
              <a:path h="304344" w="304344">
                <a:moveTo>
                  <a:pt x="0" y="0"/>
                </a:moveTo>
                <a:lnTo>
                  <a:pt x="304344" y="0"/>
                </a:lnTo>
                <a:lnTo>
                  <a:pt x="304344" y="304344"/>
                </a:lnTo>
                <a:lnTo>
                  <a:pt x="0" y="3043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5033292"/>
            <a:ext cx="304344" cy="304344"/>
          </a:xfrm>
          <a:custGeom>
            <a:avLst/>
            <a:gdLst/>
            <a:ahLst/>
            <a:cxnLst/>
            <a:rect r="r" b="b" t="t" l="l"/>
            <a:pathLst>
              <a:path h="304344" w="304344">
                <a:moveTo>
                  <a:pt x="0" y="0"/>
                </a:moveTo>
                <a:lnTo>
                  <a:pt x="304344" y="0"/>
                </a:lnTo>
                <a:lnTo>
                  <a:pt x="304344" y="304344"/>
                </a:lnTo>
                <a:lnTo>
                  <a:pt x="0" y="3043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5464304"/>
            <a:ext cx="304344" cy="304344"/>
          </a:xfrm>
          <a:custGeom>
            <a:avLst/>
            <a:gdLst/>
            <a:ahLst/>
            <a:cxnLst/>
            <a:rect r="r" b="b" t="t" l="l"/>
            <a:pathLst>
              <a:path h="304344" w="304344">
                <a:moveTo>
                  <a:pt x="0" y="0"/>
                </a:moveTo>
                <a:lnTo>
                  <a:pt x="304344" y="0"/>
                </a:lnTo>
                <a:lnTo>
                  <a:pt x="304344" y="304345"/>
                </a:lnTo>
                <a:lnTo>
                  <a:pt x="0" y="3043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896614" y="1028700"/>
            <a:ext cx="7391386" cy="5027064"/>
            <a:chOff x="0" y="0"/>
            <a:chExt cx="1145119" cy="7788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5119" cy="778824"/>
            </a:xfrm>
            <a:custGeom>
              <a:avLst/>
              <a:gdLst/>
              <a:ahLst/>
              <a:cxnLst/>
              <a:rect r="r" b="b" t="t" l="l"/>
              <a:pathLst>
                <a:path h="778824" w="1145119">
                  <a:moveTo>
                    <a:pt x="52371" y="0"/>
                  </a:moveTo>
                  <a:lnTo>
                    <a:pt x="1092748" y="0"/>
                  </a:lnTo>
                  <a:cubicBezTo>
                    <a:pt x="1106637" y="0"/>
                    <a:pt x="1119958" y="5518"/>
                    <a:pt x="1129780" y="15339"/>
                  </a:cubicBezTo>
                  <a:cubicBezTo>
                    <a:pt x="1139601" y="25161"/>
                    <a:pt x="1145119" y="38482"/>
                    <a:pt x="1145119" y="52371"/>
                  </a:cubicBezTo>
                  <a:lnTo>
                    <a:pt x="1145119" y="726453"/>
                  </a:lnTo>
                  <a:cubicBezTo>
                    <a:pt x="1145119" y="740342"/>
                    <a:pt x="1139601" y="753663"/>
                    <a:pt x="1129780" y="763485"/>
                  </a:cubicBezTo>
                  <a:cubicBezTo>
                    <a:pt x="1119958" y="773306"/>
                    <a:pt x="1106637" y="778824"/>
                    <a:pt x="1092748" y="778824"/>
                  </a:cubicBezTo>
                  <a:lnTo>
                    <a:pt x="52371" y="778824"/>
                  </a:lnTo>
                  <a:cubicBezTo>
                    <a:pt x="38482" y="778824"/>
                    <a:pt x="25161" y="773306"/>
                    <a:pt x="15339" y="763485"/>
                  </a:cubicBezTo>
                  <a:cubicBezTo>
                    <a:pt x="5518" y="753663"/>
                    <a:pt x="0" y="740342"/>
                    <a:pt x="0" y="726453"/>
                  </a:cubicBezTo>
                  <a:lnTo>
                    <a:pt x="0" y="52371"/>
                  </a:lnTo>
                  <a:cubicBezTo>
                    <a:pt x="0" y="38482"/>
                    <a:pt x="5518" y="25161"/>
                    <a:pt x="15339" y="15339"/>
                  </a:cubicBezTo>
                  <a:cubicBezTo>
                    <a:pt x="25161" y="5518"/>
                    <a:pt x="38482" y="0"/>
                    <a:pt x="52371" y="0"/>
                  </a:cubicBezTo>
                  <a:close/>
                </a:path>
              </a:pathLst>
            </a:custGeom>
            <a:blipFill>
              <a:blip r:embed="rId13"/>
              <a:stretch>
                <a:fillRect l="-19528" t="0" r="-19528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2472745"/>
            <a:ext cx="9610739" cy="1732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7"/>
              </a:lnSpc>
            </a:pPr>
            <a:r>
              <a:rPr lang="en-US" sz="12739">
                <a:solidFill>
                  <a:srgbClr val="3F81F4"/>
                </a:solidFill>
                <a:latin typeface="Poppins"/>
                <a:ea typeface="Poppins"/>
                <a:cs typeface="Poppins"/>
                <a:sym typeface="Poppins"/>
              </a:rPr>
              <a:t>Thank </a:t>
            </a:r>
            <a:r>
              <a:rPr lang="en-US" sz="1273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89312" y="1066800"/>
            <a:ext cx="4888126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Noise Removal in Medical Images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50955" y="4471089"/>
            <a:ext cx="607660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for your attention.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43364" y="4630627"/>
            <a:ext cx="240186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+998 95 032 56 02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3364" y="5061639"/>
            <a:ext cx="240186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www.researchgate.com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43364" y="5492651"/>
            <a:ext cx="240186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@alifayzullayev@gmail.com</a:t>
            </a:r>
          </a:p>
        </p:txBody>
      </p:sp>
    </p:spTree>
  </p:cSld>
  <p:clrMapOvr>
    <a:masterClrMapping/>
  </p:clrMapOvr>
  <p:transition spd="slow">
    <p:cover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DAHFfbDLWQA</dc:identifier>
  <dcterms:modified xsi:type="dcterms:W3CDTF">2011-08-01T06:04:30Z</dcterms:modified>
  <cp:revision>1</cp:revision>
  <dc:title>Introduction</dc:title>
</cp:coreProperties>
</file>